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9"/>
  </p:handoutMasterIdLst>
  <p:sldIdLst>
    <p:sldId id="256" r:id="rId3"/>
    <p:sldId id="282" r:id="rId4"/>
    <p:sldId id="269" r:id="rId6"/>
    <p:sldId id="262" r:id="rId7"/>
    <p:sldId id="275" r:id="rId8"/>
    <p:sldId id="276" r:id="rId9"/>
    <p:sldId id="270" r:id="rId10"/>
    <p:sldId id="303" r:id="rId11"/>
    <p:sldId id="304" r:id="rId12"/>
    <p:sldId id="307" r:id="rId13"/>
    <p:sldId id="264" r:id="rId14"/>
    <p:sldId id="308" r:id="rId15"/>
    <p:sldId id="302" r:id="rId16"/>
    <p:sldId id="309" r:id="rId17"/>
    <p:sldId id="311" r:id="rId18"/>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8DD7"/>
    <a:srgbClr val="EF5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ä¸­åº¦æ ·å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81013" y="1279525"/>
            <a:ext cx="6140450" cy="3454400"/>
          </a:xfrm>
        </p:spPr>
      </p:sp>
      <p:sp>
        <p:nvSpPr>
          <p:cNvPr id="3" name="Text Placeholder 2"/>
          <p:cNvSpPr>
            <a:spLocks noGrp="1"/>
          </p:cNvSpPr>
          <p:nvPr>
            <p:ph type="body" idx="3"/>
          </p:nvPr>
        </p:nvSpPr>
        <p:spPr/>
        <p:txBody>
          <a:bodyPr/>
          <a:lstStyle/>
          <a:p>
            <a:r>
              <a:rPr lang="en-GB" altLang="en-US"/>
              <a:t>Coalescence can result in approximately equal contributions from the founding communities or dominance of one community over another(Castledine et al., 2020). However, expectation of a particular result remains unknown. CUE is the intrinsic property of a given species and reflects a major component of its life history strategy to maximise fitness (Duan et al., 2024). It is verified that compositional differences are proportional to differences in function, as profiles of resource use are strongly correlated with composition. Therefore, </a:t>
            </a:r>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2520" y="1209040"/>
            <a:ext cx="10591800" cy="2387600"/>
          </a:xfrm>
        </p:spPr>
        <p:txBody>
          <a:bodyPr>
            <a:noAutofit/>
          </a:bodyPr>
          <a:lstStyle/>
          <a:p>
            <a:r>
              <a:rPr lang="en-US" sz="4400" dirty="0">
                <a:ea typeface="+mj-lt"/>
                <a:cs typeface="+mj-lt"/>
              </a:rPr>
              <a:t>Carbon-Use Efficiency Predicts the</a:t>
            </a:r>
            <a:endParaRPr lang="zh-CN" altLang="en-US" sz="4400" dirty="0"/>
          </a:p>
          <a:p>
            <a:r>
              <a:rPr lang="en-US" sz="4400" dirty="0">
                <a:ea typeface="+mj-lt"/>
                <a:cs typeface="+mj-lt"/>
              </a:rPr>
              <a:t>outcomes of Microbial Community</a:t>
            </a:r>
            <a:endParaRPr lang="en-US" sz="4400" dirty="0"/>
          </a:p>
          <a:p>
            <a:r>
              <a:rPr lang="en-US" sz="4400" dirty="0">
                <a:ea typeface="+mj-lt"/>
                <a:cs typeface="+mj-lt"/>
              </a:rPr>
              <a:t>Coalescence</a:t>
            </a:r>
            <a:endParaRPr lang="en-US" sz="4400" dirty="0">
              <a:ea typeface="+mj-lt"/>
              <a:cs typeface="+mj-lt"/>
            </a:endParaRPr>
          </a:p>
        </p:txBody>
      </p:sp>
      <p:sp>
        <p:nvSpPr>
          <p:cNvPr id="3" name="Subtitle 2"/>
          <p:cNvSpPr>
            <a:spLocks noGrp="1"/>
          </p:cNvSpPr>
          <p:nvPr>
            <p:ph type="subTitle" idx="1"/>
          </p:nvPr>
        </p:nvSpPr>
        <p:spPr>
          <a:xfrm>
            <a:off x="1600835" y="4311968"/>
            <a:ext cx="9144000" cy="1655762"/>
          </a:xfrm>
        </p:spPr>
        <p:txBody>
          <a:bodyPr vert="horz" lIns="91440" tIns="45720" rIns="91440" bIns="45720" rtlCol="0" anchor="t">
            <a:normAutofit/>
          </a:bodyPr>
          <a:lstStyle/>
          <a:p>
            <a:r>
              <a:rPr lang="en-US" altLang="en-GB" dirty="0"/>
              <a:t>Jiayi Chen</a:t>
            </a:r>
            <a:endParaRPr lang="en-US" altLang="en-GB" dirty="0"/>
          </a:p>
          <a:p>
            <a:r>
              <a:rPr lang="en-US" altLang="en-GB" dirty="0"/>
              <a:t>02/07/2025</a:t>
            </a:r>
            <a:endParaRPr lang="en-US" alt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图片包含 游戏机, 食物&#10;&#10;AI 生成的内容可能不正确。"/>
          <p:cNvPicPr>
            <a:picLocks noChangeAspect="1"/>
          </p:cNvPicPr>
          <p:nvPr/>
        </p:nvPicPr>
        <p:blipFill>
          <a:blip r:embed="rId1"/>
          <a:srcRect l="10958" t="2621" r="17206" b="13625"/>
          <a:stretch>
            <a:fillRect/>
          </a:stretch>
        </p:blipFill>
        <p:spPr>
          <a:xfrm>
            <a:off x="8634095" y="3948430"/>
            <a:ext cx="3512185" cy="2968625"/>
          </a:xfrm>
          <a:prstGeom prst="rect">
            <a:avLst/>
          </a:prstGeom>
        </p:spPr>
      </p:pic>
      <p:pic>
        <p:nvPicPr>
          <p:cNvPr id="19" name="图片 18" descr="图示&#10;&#10;AI 生成的内容可能不正确。"/>
          <p:cNvPicPr>
            <a:picLocks noChangeAspect="1"/>
          </p:cNvPicPr>
          <p:nvPr/>
        </p:nvPicPr>
        <p:blipFill>
          <a:blip r:embed="rId2"/>
          <a:srcRect t="-97" r="3455" b="448"/>
          <a:stretch>
            <a:fillRect/>
          </a:stretch>
        </p:blipFill>
        <p:spPr>
          <a:xfrm>
            <a:off x="966847" y="1980922"/>
            <a:ext cx="2723609" cy="2169766"/>
          </a:xfrm>
          <a:prstGeom prst="rect">
            <a:avLst/>
          </a:prstGeom>
        </p:spPr>
      </p:pic>
      <p:sp>
        <p:nvSpPr>
          <p:cNvPr id="9" name="Text Box 8"/>
          <p:cNvSpPr txBox="1"/>
          <p:nvPr/>
        </p:nvSpPr>
        <p:spPr>
          <a:xfrm>
            <a:off x="5339080" y="2152991"/>
            <a:ext cx="5130964" cy="3107690"/>
          </a:xfrm>
          <a:prstGeom prst="rect">
            <a:avLst/>
          </a:prstGeom>
          <a:noFill/>
        </p:spPr>
        <p:txBody>
          <a:bodyPr wrap="square" lIns="91440" tIns="45720" rIns="91440" bIns="45720" rtlCol="0" anchor="t">
            <a:spAutoFit/>
          </a:bodyPr>
          <a:lstStyle/>
          <a:p>
            <a:r>
              <a:rPr lang="en-US" altLang="en-GB" dirty="0"/>
              <a:t>After coalescence</a:t>
            </a:r>
            <a:r>
              <a:rPr lang="en-US" altLang="en-GB" dirty="0">
                <a:sym typeface="+mn-ea"/>
              </a:rPr>
              <a:t>, </a:t>
            </a:r>
            <a:r>
              <a:rPr lang="en-US" dirty="0">
                <a:sym typeface="+mn-ea"/>
              </a:rPr>
              <a:t>Communities with higher overall CUE will be more dominant in descendent community</a:t>
            </a:r>
            <a:r>
              <a:rPr dirty="0">
                <a:sym typeface="+mn-ea"/>
              </a:rPr>
              <a:t>.</a:t>
            </a:r>
            <a:endParaRPr lang="en-US" altLang="en-GB">
              <a:ea typeface="Calibri"/>
              <a:cs typeface="Calibri"/>
            </a:endParaRPr>
          </a:p>
          <a:p>
            <a:endParaRPr lang="en-US" dirty="0">
              <a:ea typeface="Calibri"/>
              <a:cs typeface="Calibri"/>
            </a:endParaRPr>
          </a:p>
          <a:p>
            <a:r>
              <a:rPr lang="en-US" dirty="0">
                <a:ea typeface="+mn-lt"/>
                <a:cs typeface="+mn-lt"/>
              </a:rPr>
              <a:t>This pattern arises from a positive correlation between species-level CUE and abundance.</a:t>
            </a:r>
            <a:endParaRPr lang="en-US" dirty="0">
              <a:ea typeface="Calibri"/>
              <a:cs typeface="Calibri"/>
            </a:endParaRPr>
          </a:p>
          <a:p>
            <a:endParaRPr lang="en-US" dirty="0">
              <a:ea typeface="Calibri"/>
              <a:cs typeface="Calibri"/>
            </a:endParaRPr>
          </a:p>
          <a:p>
            <a:r>
              <a:rPr lang="en-US" dirty="0">
                <a:ea typeface="+mn-lt"/>
                <a:cs typeface="+mn-lt"/>
              </a:rPr>
              <a:t>The underlying mechanism is linked to </a:t>
            </a:r>
            <a:r>
              <a:rPr lang="en-US" altLang="en-US" dirty="0">
                <a:ea typeface="+mn-lt"/>
                <a:cs typeface="+mn-lt"/>
              </a:rPr>
              <a:t>community </a:t>
            </a:r>
            <a:r>
              <a:rPr lang="en-US" dirty="0">
                <a:ea typeface="+mn-lt"/>
                <a:cs typeface="+mn-lt"/>
              </a:rPr>
              <a:t>niche overlap or competitive interactions.</a:t>
            </a:r>
            <a:endParaRPr lang="en-US" dirty="0"/>
          </a:p>
          <a:p>
            <a:endParaRPr lang="en-US" sz="1600" dirty="0">
              <a:ea typeface="Calibri"/>
              <a:cs typeface="Calibri"/>
            </a:endParaRPr>
          </a:p>
        </p:txBody>
      </p:sp>
      <p:sp>
        <p:nvSpPr>
          <p:cNvPr id="10" name="Text Box 9"/>
          <p:cNvSpPr txBox="1"/>
          <p:nvPr/>
        </p:nvSpPr>
        <p:spPr>
          <a:xfrm>
            <a:off x="5339080" y="735775"/>
            <a:ext cx="1513840" cy="368300"/>
          </a:xfrm>
          <a:prstGeom prst="rect">
            <a:avLst/>
          </a:prstGeom>
          <a:noFill/>
        </p:spPr>
        <p:txBody>
          <a:bodyPr wrap="square" lIns="91440" tIns="45720" rIns="91440" bIns="45720" rtlCol="0" anchor="t">
            <a:spAutoFit/>
          </a:bodyPr>
          <a:lstStyle/>
          <a:p>
            <a:r>
              <a:rPr lang="en-US" altLang="en-GB" b="1" dirty="0"/>
              <a:t>Q</a:t>
            </a:r>
            <a:r>
              <a:rPr lang="en-GB" altLang="en-US" b="1" dirty="0" err="1"/>
              <a:t>uestion</a:t>
            </a:r>
            <a:endParaRPr lang="en-GB" altLang="en-US" b="1" dirty="0" err="1">
              <a:ea typeface="Calibri"/>
              <a:cs typeface="Calibri"/>
            </a:endParaRPr>
          </a:p>
        </p:txBody>
      </p:sp>
      <p:sp>
        <p:nvSpPr>
          <p:cNvPr id="12" name="Text Box 11"/>
          <p:cNvSpPr txBox="1"/>
          <p:nvPr/>
        </p:nvSpPr>
        <p:spPr>
          <a:xfrm>
            <a:off x="5339080" y="1793610"/>
            <a:ext cx="1811020" cy="368300"/>
          </a:xfrm>
          <a:prstGeom prst="rect">
            <a:avLst/>
          </a:prstGeom>
          <a:noFill/>
        </p:spPr>
        <p:txBody>
          <a:bodyPr wrap="square" rtlCol="0" anchor="t">
            <a:spAutoFit/>
          </a:bodyPr>
          <a:lstStyle/>
          <a:p>
            <a:r>
              <a:rPr lang="en-US" b="1"/>
              <a:t>Hypothesis</a:t>
            </a:r>
            <a:endParaRPr lang="en-US" b="1"/>
          </a:p>
        </p:txBody>
      </p:sp>
      <p:sp>
        <p:nvSpPr>
          <p:cNvPr id="15" name="Text Box 14"/>
          <p:cNvSpPr txBox="1"/>
          <p:nvPr/>
        </p:nvSpPr>
        <p:spPr>
          <a:xfrm>
            <a:off x="5339080" y="1124655"/>
            <a:ext cx="4839335" cy="662233"/>
          </a:xfrm>
          <a:prstGeom prst="rect">
            <a:avLst/>
          </a:prstGeom>
          <a:noFill/>
        </p:spPr>
        <p:txBody>
          <a:bodyPr wrap="square" lIns="91440" tIns="45720" rIns="91440" bIns="45720" rtlCol="0" anchor="t">
            <a:spAutoFit/>
          </a:bodyPr>
          <a:lstStyle/>
          <a:p>
            <a:pPr>
              <a:lnSpc>
                <a:spcPct val="105000"/>
              </a:lnSpc>
            </a:pPr>
            <a:r>
              <a:rPr lang="en-US" altLang="zh-CN" dirty="0">
                <a:ea typeface="SimSun"/>
                <a:sym typeface="+mn-ea"/>
              </a:rPr>
              <a:t>Can CUE </a:t>
            </a:r>
            <a:r>
              <a:rPr lang="en-US" altLang="en-US" dirty="0">
                <a:sym typeface="+mn-ea"/>
              </a:rPr>
              <a:t>be used </a:t>
            </a:r>
            <a:r>
              <a:rPr lang="en-US" altLang="zh-CN" dirty="0">
                <a:ea typeface="SimSun"/>
                <a:sym typeface="+mn-ea"/>
              </a:rPr>
              <a:t>to predict </a:t>
            </a:r>
            <a:r>
              <a:rPr lang="en-US" altLang="zh-CN" b="1" dirty="0">
                <a:ea typeface="SimSun"/>
                <a:sym typeface="+mn-ea"/>
              </a:rPr>
              <a:t>community "fitness"</a:t>
            </a:r>
            <a:r>
              <a:rPr lang="en-US" altLang="zh-CN" dirty="0">
                <a:ea typeface="SimSun"/>
                <a:sym typeface="+mn-ea"/>
              </a:rPr>
              <a:t> for coalescence?</a:t>
            </a:r>
            <a:endParaRPr lang="en-US" altLang="zh-CN" dirty="0">
              <a:ea typeface="SimSun"/>
              <a:sym typeface="+mn-ea"/>
            </a:endParaRPr>
          </a:p>
        </p:txBody>
      </p:sp>
      <p:sp>
        <p:nvSpPr>
          <p:cNvPr id="23" name="Text Box 22"/>
          <p:cNvSpPr txBox="1"/>
          <p:nvPr/>
        </p:nvSpPr>
        <p:spPr>
          <a:xfrm>
            <a:off x="962895" y="1456971"/>
            <a:ext cx="2286753" cy="369332"/>
          </a:xfrm>
          <a:prstGeom prst="rect">
            <a:avLst/>
          </a:prstGeom>
          <a:noFill/>
        </p:spPr>
        <p:txBody>
          <a:bodyPr wrap="square" rtlCol="0" anchor="t">
            <a:spAutoFit/>
          </a:bodyPr>
          <a:lstStyle/>
          <a:p>
            <a:pPr fontAlgn="auto">
              <a:spcAft>
                <a:spcPts val="600"/>
              </a:spcAft>
            </a:pPr>
            <a:r>
              <a:rPr lang="en-US" altLang="en-US" dirty="0">
                <a:ea typeface="+mj-lt"/>
                <a:cs typeface="+mj-lt"/>
                <a:sym typeface="+mn-ea"/>
              </a:rPr>
              <a:t>Coalescence:</a:t>
            </a:r>
            <a:endParaRPr lang="en-GB" altLang="en-US"/>
          </a:p>
        </p:txBody>
      </p:sp>
      <p:sp>
        <p:nvSpPr>
          <p:cNvPr id="6" name="Title 1"/>
          <p:cNvSpPr>
            <a:spLocks noGrp="1"/>
          </p:cNvSpPr>
          <p:nvPr/>
        </p:nvSpPr>
        <p:spPr>
          <a:xfrm>
            <a:off x="392537" y="230505"/>
            <a:ext cx="3608120" cy="13849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a:t>Introduction</a:t>
            </a:r>
            <a:endParaRPr lang="en-US" altLang="en-GB" sz="4000"/>
          </a:p>
        </p:txBody>
      </p:sp>
      <p:grpSp>
        <p:nvGrpSpPr>
          <p:cNvPr id="27" name="组合 26"/>
          <p:cNvGrpSpPr/>
          <p:nvPr/>
        </p:nvGrpSpPr>
        <p:grpSpPr>
          <a:xfrm>
            <a:off x="176965" y="4401490"/>
            <a:ext cx="4877858" cy="1297083"/>
            <a:chOff x="-105257" y="4410897"/>
            <a:chExt cx="4877858" cy="1297083"/>
          </a:xfrm>
        </p:grpSpPr>
        <p:sp>
          <p:nvSpPr>
            <p:cNvPr id="20" name="Text Box 22"/>
            <p:cNvSpPr txBox="1"/>
            <p:nvPr/>
          </p:nvSpPr>
          <p:spPr>
            <a:xfrm>
              <a:off x="548969" y="4410897"/>
              <a:ext cx="2804160" cy="369332"/>
            </a:xfrm>
            <a:prstGeom prst="rect">
              <a:avLst/>
            </a:prstGeom>
            <a:noFill/>
          </p:spPr>
          <p:txBody>
            <a:bodyPr wrap="square" lIns="91440" tIns="45720" rIns="91440" bIns="45720" rtlCol="0" anchor="t">
              <a:spAutoFit/>
            </a:bodyPr>
            <a:lstStyle/>
            <a:p>
              <a:pPr>
                <a:spcAft>
                  <a:spcPts val="600"/>
                </a:spcAft>
              </a:pPr>
              <a:r>
                <a:rPr lang="en-US" altLang="en-US" dirty="0">
                  <a:ea typeface="+mj-lt"/>
                  <a:cs typeface="+mj-lt"/>
                  <a:sym typeface="+mn-ea"/>
                </a:rPr>
                <a:t>Carbon usage efficiency:</a:t>
              </a:r>
              <a:endParaRPr lang="en-GB" altLang="en-US" dirty="0"/>
            </a:p>
          </p:txBody>
        </p:sp>
        <p:pic>
          <p:nvPicPr>
            <p:cNvPr id="21" name="图片 20"/>
            <p:cNvPicPr>
              <a:picLocks noChangeAspect="1"/>
            </p:cNvPicPr>
            <p:nvPr/>
          </p:nvPicPr>
          <p:blipFill>
            <a:blip r:embed="rId3"/>
            <a:stretch>
              <a:fillRect/>
            </a:stretch>
          </p:blipFill>
          <p:spPr>
            <a:xfrm>
              <a:off x="-105257" y="5032881"/>
              <a:ext cx="4877858" cy="67509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745" y="230505"/>
            <a:ext cx="4513675" cy="1287934"/>
          </a:xfrm>
        </p:spPr>
        <p:txBody>
          <a:bodyPr/>
          <a:lstStyle/>
          <a:p>
            <a:r>
              <a:rPr lang="en-US" altLang="en-GB" sz="4000"/>
              <a:t>Methods</a:t>
            </a:r>
            <a:endParaRPr lang="en-US" altLang="en-GB" sz="4000"/>
          </a:p>
        </p:txBody>
      </p:sp>
      <p:grpSp>
        <p:nvGrpSpPr>
          <p:cNvPr id="82" name="组合 81"/>
          <p:cNvGrpSpPr/>
          <p:nvPr/>
        </p:nvGrpSpPr>
        <p:grpSpPr>
          <a:xfrm>
            <a:off x="372745" y="1153731"/>
            <a:ext cx="4625857" cy="2581910"/>
            <a:chOff x="372745" y="1153731"/>
            <a:chExt cx="4625857" cy="2581910"/>
          </a:xfrm>
        </p:grpSpPr>
        <p:grpSp>
          <p:nvGrpSpPr>
            <p:cNvPr id="12" name="Group 11"/>
            <p:cNvGrpSpPr/>
            <p:nvPr/>
          </p:nvGrpSpPr>
          <p:grpSpPr>
            <a:xfrm>
              <a:off x="372745" y="1153731"/>
              <a:ext cx="4516120" cy="2581910"/>
              <a:chOff x="428" y="2094"/>
              <a:chExt cx="8000" cy="4484"/>
            </a:xfrm>
          </p:grpSpPr>
          <p:pic>
            <p:nvPicPr>
              <p:cNvPr id="10" name="Picture 9"/>
              <p:cNvPicPr>
                <a:picLocks noChangeAspect="1"/>
              </p:cNvPicPr>
              <p:nvPr/>
            </p:nvPicPr>
            <p:blipFill>
              <a:blip r:embed="rId1"/>
              <a:stretch>
                <a:fillRect/>
              </a:stretch>
            </p:blipFill>
            <p:spPr>
              <a:xfrm>
                <a:off x="428" y="2094"/>
                <a:ext cx="4394" cy="4484"/>
              </a:xfrm>
              <a:prstGeom prst="rect">
                <a:avLst/>
              </a:prstGeom>
            </p:spPr>
          </p:pic>
          <p:pic>
            <p:nvPicPr>
              <p:cNvPr id="11" name="Picture 10"/>
              <p:cNvPicPr>
                <a:picLocks noChangeAspect="1"/>
              </p:cNvPicPr>
              <p:nvPr/>
            </p:nvPicPr>
            <p:blipFill>
              <a:blip r:embed="rId2"/>
              <a:stretch>
                <a:fillRect/>
              </a:stretch>
            </p:blipFill>
            <p:spPr>
              <a:xfrm>
                <a:off x="4170" y="2235"/>
                <a:ext cx="4259" cy="3720"/>
              </a:xfrm>
              <a:prstGeom prst="rect">
                <a:avLst/>
              </a:prstGeom>
            </p:spPr>
          </p:pic>
        </p:grpSp>
        <p:sp>
          <p:nvSpPr>
            <p:cNvPr id="13" name="Right Arrow 12"/>
            <p:cNvSpPr/>
            <p:nvPr/>
          </p:nvSpPr>
          <p:spPr>
            <a:xfrm>
              <a:off x="4379477" y="3042445"/>
              <a:ext cx="619125" cy="18097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4" name="Text Box 13"/>
            <p:cNvSpPr txBox="1"/>
            <p:nvPr/>
          </p:nvSpPr>
          <p:spPr>
            <a:xfrm>
              <a:off x="4546600" y="2773106"/>
              <a:ext cx="266700" cy="368300"/>
            </a:xfrm>
            <a:prstGeom prst="rect">
              <a:avLst/>
            </a:prstGeom>
            <a:noFill/>
          </p:spPr>
          <p:txBody>
            <a:bodyPr wrap="square" rtlCol="0">
              <a:spAutoFit/>
            </a:bodyPr>
            <a:lstStyle/>
            <a:p>
              <a:r>
                <a:rPr lang="en-GB" altLang="en-US"/>
                <a:t>ω</a:t>
              </a:r>
              <a:endParaRPr lang="en-GB" altLang="en-US"/>
            </a:p>
          </p:txBody>
        </p:sp>
      </p:grpSp>
      <p:grpSp>
        <p:nvGrpSpPr>
          <p:cNvPr id="83" name="组合 82"/>
          <p:cNvGrpSpPr/>
          <p:nvPr/>
        </p:nvGrpSpPr>
        <p:grpSpPr>
          <a:xfrm>
            <a:off x="5857508" y="1153154"/>
            <a:ext cx="5800090" cy="1943819"/>
            <a:chOff x="5904545" y="1510635"/>
            <a:chExt cx="5800090" cy="1943819"/>
          </a:xfrm>
        </p:grpSpPr>
        <p:pic>
          <p:nvPicPr>
            <p:cNvPr id="17" name="Picture 16" descr="QianJianTec1745590486584"/>
            <p:cNvPicPr>
              <a:picLocks noChangeAspect="1"/>
            </p:cNvPicPr>
            <p:nvPr/>
          </p:nvPicPr>
          <p:blipFill>
            <a:blip r:embed="rId3"/>
            <a:stretch>
              <a:fillRect/>
            </a:stretch>
          </p:blipFill>
          <p:spPr>
            <a:xfrm>
              <a:off x="5908718" y="1853598"/>
              <a:ext cx="3681095" cy="735965"/>
            </a:xfrm>
            <a:prstGeom prst="rect">
              <a:avLst/>
            </a:prstGeom>
          </p:spPr>
        </p:pic>
        <p:pic>
          <p:nvPicPr>
            <p:cNvPr id="18" name="Picture 17" descr="QianJianTec1745590561038"/>
            <p:cNvPicPr>
              <a:picLocks noChangeAspect="1"/>
            </p:cNvPicPr>
            <p:nvPr/>
          </p:nvPicPr>
          <p:blipFill>
            <a:blip r:embed="rId4"/>
            <a:stretch>
              <a:fillRect/>
            </a:stretch>
          </p:blipFill>
          <p:spPr>
            <a:xfrm>
              <a:off x="5909040" y="2634034"/>
              <a:ext cx="5707380" cy="820420"/>
            </a:xfrm>
            <a:prstGeom prst="rect">
              <a:avLst/>
            </a:prstGeom>
          </p:spPr>
        </p:pic>
        <p:sp>
          <p:nvSpPr>
            <p:cNvPr id="36" name="Text Box 20"/>
            <p:cNvSpPr txBox="1"/>
            <p:nvPr/>
          </p:nvSpPr>
          <p:spPr>
            <a:xfrm>
              <a:off x="5904545" y="1510635"/>
              <a:ext cx="5800090" cy="338554"/>
            </a:xfrm>
            <a:prstGeom prst="rect">
              <a:avLst/>
            </a:prstGeom>
            <a:noFill/>
          </p:spPr>
          <p:txBody>
            <a:bodyPr wrap="square" lIns="91440" tIns="45720" rIns="91440" bIns="45720" rtlCol="0" anchor="t">
              <a:spAutoFit/>
            </a:bodyPr>
            <a:lstStyle/>
            <a:p>
              <a:r>
                <a:rPr lang="en-US" sz="1600" dirty="0"/>
                <a:t>Microbial consumer resource model</a:t>
              </a:r>
              <a:endParaRPr lang="zh-CN" altLang="en-US" dirty="0"/>
            </a:p>
          </p:txBody>
        </p:sp>
      </p:grpSp>
      <p:sp>
        <p:nvSpPr>
          <p:cNvPr id="38" name="Title 3"/>
          <p:cNvSpPr txBox="1"/>
          <p:nvPr/>
        </p:nvSpPr>
        <p:spPr>
          <a:xfrm>
            <a:off x="681990" y="3604895"/>
            <a:ext cx="3536950" cy="789305"/>
          </a:xfrm>
          <a:prstGeom prst="flowChartDelay">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dirty="0"/>
              <a:t>Calculate CUE</a:t>
            </a:r>
            <a:endParaRPr lang="en-US" altLang="en-US" sz="2400" dirty="0"/>
          </a:p>
        </p:txBody>
      </p:sp>
      <p:sp>
        <p:nvSpPr>
          <p:cNvPr id="40" name="Text Box 4"/>
          <p:cNvSpPr txBox="1"/>
          <p:nvPr/>
        </p:nvSpPr>
        <p:spPr>
          <a:xfrm>
            <a:off x="687916" y="4215601"/>
            <a:ext cx="2867025" cy="368300"/>
          </a:xfrm>
          <a:prstGeom prst="rect">
            <a:avLst/>
          </a:prstGeom>
          <a:noFill/>
        </p:spPr>
        <p:txBody>
          <a:bodyPr wrap="square" lIns="91440" tIns="45720" rIns="91440" bIns="45720" rtlCol="0" anchor="t">
            <a:spAutoFit/>
          </a:bodyPr>
          <a:lstStyle/>
          <a:p>
            <a:r>
              <a:rPr lang="en-US" altLang="en-GB" dirty="0"/>
              <a:t>Species level:</a:t>
            </a:r>
            <a:endParaRPr lang="en-US" altLang="en-GB" dirty="0"/>
          </a:p>
        </p:txBody>
      </p:sp>
      <p:pic>
        <p:nvPicPr>
          <p:cNvPr id="42" name="Picture 5" descr="QianJianTec1745508030781"/>
          <p:cNvPicPr>
            <a:picLocks noChangeAspect="1"/>
          </p:cNvPicPr>
          <p:nvPr/>
        </p:nvPicPr>
        <p:blipFill>
          <a:blip r:embed="rId5"/>
          <a:stretch>
            <a:fillRect/>
          </a:stretch>
        </p:blipFill>
        <p:spPr>
          <a:xfrm>
            <a:off x="697676" y="5769870"/>
            <a:ext cx="3854193" cy="809273"/>
          </a:xfrm>
          <a:prstGeom prst="rect">
            <a:avLst/>
          </a:prstGeom>
        </p:spPr>
      </p:pic>
      <p:sp>
        <p:nvSpPr>
          <p:cNvPr id="44" name="Text Box 6"/>
          <p:cNvSpPr txBox="1"/>
          <p:nvPr/>
        </p:nvSpPr>
        <p:spPr>
          <a:xfrm>
            <a:off x="695866" y="5400934"/>
            <a:ext cx="5675630" cy="368300"/>
          </a:xfrm>
          <a:prstGeom prst="rect">
            <a:avLst/>
          </a:prstGeom>
          <a:noFill/>
        </p:spPr>
        <p:txBody>
          <a:bodyPr wrap="square" lIns="91440" tIns="45720" rIns="91440" bIns="45720" rtlCol="0" anchor="t">
            <a:spAutoFit/>
          </a:bodyPr>
          <a:lstStyle/>
          <a:p>
            <a:r>
              <a:rPr lang="en-US" altLang="en-US" dirty="0"/>
              <a:t>Community</a:t>
            </a:r>
            <a:r>
              <a:rPr lang="en-US" altLang="en-GB" dirty="0"/>
              <a:t> level :</a:t>
            </a:r>
            <a:endParaRPr lang="en-US" altLang="en-GB" dirty="0"/>
          </a:p>
        </p:txBody>
      </p:sp>
      <p:pic>
        <p:nvPicPr>
          <p:cNvPr id="46" name="Picture 7" descr="QianJianTec1745508988005"/>
          <p:cNvPicPr>
            <a:picLocks noChangeAspect="1"/>
          </p:cNvPicPr>
          <p:nvPr/>
        </p:nvPicPr>
        <p:blipFill>
          <a:blip r:embed="rId6"/>
          <a:stretch>
            <a:fillRect/>
          </a:stretch>
        </p:blipFill>
        <p:spPr>
          <a:xfrm>
            <a:off x="687916" y="4583901"/>
            <a:ext cx="3750405" cy="817175"/>
          </a:xfrm>
          <a:prstGeom prst="rect">
            <a:avLst/>
          </a:prstGeom>
        </p:spPr>
      </p:pic>
      <p:grpSp>
        <p:nvGrpSpPr>
          <p:cNvPr id="81" name="组合 80"/>
          <p:cNvGrpSpPr/>
          <p:nvPr/>
        </p:nvGrpSpPr>
        <p:grpSpPr>
          <a:xfrm>
            <a:off x="5268171" y="3423167"/>
            <a:ext cx="6507480" cy="3136900"/>
            <a:chOff x="5437505" y="3413760"/>
            <a:chExt cx="6507480" cy="3136900"/>
          </a:xfrm>
        </p:grpSpPr>
        <p:grpSp>
          <p:nvGrpSpPr>
            <p:cNvPr id="56" name="Group 27"/>
            <p:cNvGrpSpPr/>
            <p:nvPr/>
          </p:nvGrpSpPr>
          <p:grpSpPr>
            <a:xfrm>
              <a:off x="5437505" y="3413760"/>
              <a:ext cx="6507480" cy="3010535"/>
              <a:chOff x="7968" y="5256"/>
              <a:chExt cx="10248" cy="4741"/>
            </a:xfrm>
          </p:grpSpPr>
          <p:pic>
            <p:nvPicPr>
              <p:cNvPr id="77" name="Picture 18"/>
              <p:cNvPicPr>
                <a:picLocks noChangeAspect="1"/>
              </p:cNvPicPr>
              <p:nvPr/>
            </p:nvPicPr>
            <p:blipFill>
              <a:blip r:embed="rId7"/>
              <a:srcRect l="46674"/>
              <a:stretch>
                <a:fillRect/>
              </a:stretch>
            </p:blipFill>
            <p:spPr>
              <a:xfrm>
                <a:off x="12901" y="5787"/>
                <a:ext cx="5315" cy="4210"/>
              </a:xfrm>
              <a:prstGeom prst="rect">
                <a:avLst/>
              </a:prstGeom>
            </p:spPr>
          </p:pic>
          <p:sp>
            <p:nvSpPr>
              <p:cNvPr id="78" name="Text Box 24"/>
              <p:cNvSpPr txBox="1"/>
              <p:nvPr/>
            </p:nvSpPr>
            <p:spPr>
              <a:xfrm>
                <a:off x="12888" y="7129"/>
                <a:ext cx="2284" cy="919"/>
              </a:xfrm>
              <a:prstGeom prst="rect">
                <a:avLst/>
              </a:prstGeom>
              <a:solidFill>
                <a:schemeClr val="bg1"/>
              </a:solidFill>
              <a:ln>
                <a:solidFill>
                  <a:schemeClr val="bg1"/>
                </a:solidFill>
              </a:ln>
            </p:spPr>
            <p:txBody>
              <a:bodyPr wrap="square" rtlCol="0">
                <a:spAutoFit/>
              </a:bodyPr>
              <a:lstStyle/>
              <a:p>
                <a:r>
                  <a:rPr lang="en-GB" altLang="en-US" sz="1600"/>
                  <a:t>compare abundance</a:t>
                </a:r>
                <a:endParaRPr lang="en-GB" altLang="en-US" sz="1600"/>
              </a:p>
            </p:txBody>
          </p:sp>
          <p:sp>
            <p:nvSpPr>
              <p:cNvPr id="79" name="Text Box 25"/>
              <p:cNvSpPr txBox="1"/>
              <p:nvPr/>
            </p:nvSpPr>
            <p:spPr>
              <a:xfrm>
                <a:off x="7968" y="5256"/>
                <a:ext cx="5638" cy="531"/>
              </a:xfrm>
              <a:prstGeom prst="rect">
                <a:avLst/>
              </a:prstGeom>
              <a:solidFill>
                <a:schemeClr val="bg1"/>
              </a:solidFill>
              <a:ln>
                <a:solidFill>
                  <a:schemeClr val="bg1"/>
                </a:solidFill>
              </a:ln>
            </p:spPr>
            <p:txBody>
              <a:bodyPr wrap="square" rtlCol="0">
                <a:spAutoFit/>
              </a:bodyPr>
              <a:lstStyle/>
              <a:p>
                <a:pPr algn="ctr"/>
                <a:r>
                  <a:rPr lang="en-US" altLang="en-GB" sz="1600"/>
                  <a:t>Community after coalescence</a:t>
                </a:r>
                <a:endParaRPr lang="en-US" altLang="en-GB" sz="1600"/>
              </a:p>
            </p:txBody>
          </p:sp>
          <p:sp>
            <p:nvSpPr>
              <p:cNvPr id="80" name="Rectangle 26"/>
              <p:cNvSpPr/>
              <p:nvPr/>
            </p:nvSpPr>
            <p:spPr>
              <a:xfrm>
                <a:off x="15897" y="6223"/>
                <a:ext cx="1375" cy="8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grpSp>
        <p:grpSp>
          <p:nvGrpSpPr>
            <p:cNvPr id="57" name="组合 56"/>
            <p:cNvGrpSpPr/>
            <p:nvPr/>
          </p:nvGrpSpPr>
          <p:grpSpPr>
            <a:xfrm>
              <a:off x="5932170" y="3797935"/>
              <a:ext cx="2599055" cy="2752725"/>
              <a:chOff x="5932170" y="3797935"/>
              <a:chExt cx="2599055" cy="2752725"/>
            </a:xfrm>
          </p:grpSpPr>
          <p:sp>
            <p:nvSpPr>
              <p:cNvPr id="58" name="Rounded Rectangle 1"/>
              <p:cNvSpPr/>
              <p:nvPr/>
            </p:nvSpPr>
            <p:spPr>
              <a:xfrm>
                <a:off x="5932170" y="3797935"/>
                <a:ext cx="2599055" cy="2752725"/>
              </a:xfrm>
              <a:prstGeom prst="roundRect">
                <a:avLst/>
              </a:prstGeom>
              <a:noFill/>
              <a:ln w="38100">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59" name="Oval 2"/>
              <p:cNvSpPr/>
              <p:nvPr/>
            </p:nvSpPr>
            <p:spPr>
              <a:xfrm>
                <a:off x="6440170" y="410464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0" name="Oval 9"/>
              <p:cNvSpPr/>
              <p:nvPr/>
            </p:nvSpPr>
            <p:spPr>
              <a:xfrm>
                <a:off x="7171690" y="450977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1" name="Oval 10"/>
              <p:cNvSpPr/>
              <p:nvPr/>
            </p:nvSpPr>
            <p:spPr>
              <a:xfrm>
                <a:off x="6560185" y="463677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2" name="Oval 11"/>
              <p:cNvSpPr/>
              <p:nvPr/>
            </p:nvSpPr>
            <p:spPr>
              <a:xfrm>
                <a:off x="7097395" y="5272405"/>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3" name="Oval 12"/>
              <p:cNvSpPr/>
              <p:nvPr/>
            </p:nvSpPr>
            <p:spPr>
              <a:xfrm>
                <a:off x="6219825" y="5272405"/>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4" name="Oval 13"/>
              <p:cNvSpPr/>
              <p:nvPr/>
            </p:nvSpPr>
            <p:spPr>
              <a:xfrm>
                <a:off x="6771005" y="5888355"/>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5" name="Oval 14"/>
              <p:cNvSpPr/>
              <p:nvPr/>
            </p:nvSpPr>
            <p:spPr>
              <a:xfrm>
                <a:off x="7675245" y="5756275"/>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6" name="Oval 15"/>
              <p:cNvSpPr/>
              <p:nvPr/>
            </p:nvSpPr>
            <p:spPr>
              <a:xfrm>
                <a:off x="7840345" y="518287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7" name="Oval 17"/>
              <p:cNvSpPr/>
              <p:nvPr/>
            </p:nvSpPr>
            <p:spPr>
              <a:xfrm>
                <a:off x="7513955" y="4946015"/>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8" name="Oval 19"/>
              <p:cNvSpPr/>
              <p:nvPr/>
            </p:nvSpPr>
            <p:spPr>
              <a:xfrm>
                <a:off x="8001635" y="418338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69" name="Oval 20"/>
              <p:cNvSpPr/>
              <p:nvPr/>
            </p:nvSpPr>
            <p:spPr>
              <a:xfrm>
                <a:off x="6113780" y="4509770"/>
                <a:ext cx="326390" cy="326390"/>
              </a:xfrm>
              <a:prstGeom prst="ellipse">
                <a:avLst/>
              </a:prstGeom>
              <a:solidFill>
                <a:srgbClr val="EF5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0" name="Oval 21"/>
              <p:cNvSpPr/>
              <p:nvPr/>
            </p:nvSpPr>
            <p:spPr>
              <a:xfrm>
                <a:off x="6950075" y="396684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1" name="Oval 22"/>
              <p:cNvSpPr/>
              <p:nvPr/>
            </p:nvSpPr>
            <p:spPr>
              <a:xfrm>
                <a:off x="6766560" y="508190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2" name="Oval 23"/>
              <p:cNvSpPr/>
              <p:nvPr/>
            </p:nvSpPr>
            <p:spPr>
              <a:xfrm>
                <a:off x="7513955" y="429323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3" name="Oval 28"/>
              <p:cNvSpPr/>
              <p:nvPr/>
            </p:nvSpPr>
            <p:spPr>
              <a:xfrm>
                <a:off x="8001635" y="475551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4" name="Oval 29"/>
              <p:cNvSpPr/>
              <p:nvPr/>
            </p:nvSpPr>
            <p:spPr>
              <a:xfrm>
                <a:off x="7171690" y="575627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5" name="Oval 30"/>
              <p:cNvSpPr/>
              <p:nvPr/>
            </p:nvSpPr>
            <p:spPr>
              <a:xfrm>
                <a:off x="6233795" y="5947410"/>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76" name="Oval 31"/>
              <p:cNvSpPr/>
              <p:nvPr/>
            </p:nvSpPr>
            <p:spPr>
              <a:xfrm>
                <a:off x="8001635" y="6082665"/>
                <a:ext cx="326390" cy="326390"/>
              </a:xfrm>
              <a:prstGeom prst="ellipse">
                <a:avLst/>
              </a:prstGeom>
              <a:solidFill>
                <a:srgbClr val="528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grpSp>
      </p:grpSp>
      <p:sp>
        <p:nvSpPr>
          <p:cNvPr id="5" name="Text Box 4"/>
          <p:cNvSpPr txBox="1"/>
          <p:nvPr/>
        </p:nvSpPr>
        <p:spPr>
          <a:xfrm>
            <a:off x="692996" y="4211791"/>
            <a:ext cx="2867025" cy="368300"/>
          </a:xfrm>
          <a:prstGeom prst="rect">
            <a:avLst/>
          </a:prstGeom>
          <a:noFill/>
        </p:spPr>
        <p:txBody>
          <a:bodyPr wrap="square" lIns="91440" tIns="45720" rIns="91440" bIns="45720" rtlCol="0" anchor="t">
            <a:spAutoFit/>
          </a:bodyPr>
          <a:p>
            <a:r>
              <a:rPr lang="en-US" altLang="en-GB" dirty="0"/>
              <a:t>Species level:</a:t>
            </a:r>
            <a:endParaRPr lang="en-US" altLang="en-GB" dirty="0"/>
          </a:p>
        </p:txBody>
      </p:sp>
      <p:pic>
        <p:nvPicPr>
          <p:cNvPr id="6" name="Picture 5" descr="QianJianTec1745508030781"/>
          <p:cNvPicPr>
            <a:picLocks noChangeAspect="1"/>
          </p:cNvPicPr>
          <p:nvPr/>
        </p:nvPicPr>
        <p:blipFill>
          <a:blip r:embed="rId5"/>
          <a:stretch>
            <a:fillRect/>
          </a:stretch>
        </p:blipFill>
        <p:spPr>
          <a:xfrm>
            <a:off x="702756" y="5766060"/>
            <a:ext cx="3854193" cy="809273"/>
          </a:xfrm>
          <a:prstGeom prst="rect">
            <a:avLst/>
          </a:prstGeom>
        </p:spPr>
      </p:pic>
      <p:sp>
        <p:nvSpPr>
          <p:cNvPr id="7" name="Text Box 6"/>
          <p:cNvSpPr txBox="1"/>
          <p:nvPr/>
        </p:nvSpPr>
        <p:spPr>
          <a:xfrm>
            <a:off x="700946" y="5397124"/>
            <a:ext cx="5675630" cy="368300"/>
          </a:xfrm>
          <a:prstGeom prst="rect">
            <a:avLst/>
          </a:prstGeom>
          <a:noFill/>
        </p:spPr>
        <p:txBody>
          <a:bodyPr wrap="square" lIns="91440" tIns="45720" rIns="91440" bIns="45720" rtlCol="0" anchor="t">
            <a:spAutoFit/>
          </a:bodyPr>
          <a:p>
            <a:r>
              <a:rPr lang="en-US" altLang="en-US" dirty="0"/>
              <a:t>Community</a:t>
            </a:r>
            <a:r>
              <a:rPr lang="en-US" altLang="en-GB" dirty="0"/>
              <a:t> level :</a:t>
            </a:r>
            <a:endParaRPr lang="en-US" altLang="en-GB" dirty="0"/>
          </a:p>
        </p:txBody>
      </p:sp>
      <p:pic>
        <p:nvPicPr>
          <p:cNvPr id="8" name="Picture 7" descr="QianJianTec1745508988005"/>
          <p:cNvPicPr>
            <a:picLocks noChangeAspect="1"/>
          </p:cNvPicPr>
          <p:nvPr/>
        </p:nvPicPr>
        <p:blipFill>
          <a:blip r:embed="rId6"/>
          <a:stretch>
            <a:fillRect/>
          </a:stretch>
        </p:blipFill>
        <p:spPr>
          <a:xfrm>
            <a:off x="692996" y="4580091"/>
            <a:ext cx="3750405" cy="817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410" y="104140"/>
            <a:ext cx="9337040" cy="920750"/>
          </a:xfrm>
          <a:prstGeom prst="flowChartDelay">
            <a:avLst/>
          </a:prstGeom>
        </p:spPr>
        <p:txBody>
          <a:bodyPr/>
          <a:lstStyle/>
          <a:p>
            <a:r>
              <a:rPr lang="en-US" altLang="en-US" sz="3200"/>
              <a:t>A</a:t>
            </a:r>
            <a:r>
              <a:rPr lang="en-US" altLang="en-GB" sz="3200"/>
              <a:t>ssemble communities</a:t>
            </a:r>
            <a:endParaRPr lang="en-US" altLang="en-GB" sz="3200"/>
          </a:p>
        </p:txBody>
      </p:sp>
      <p:graphicFrame>
        <p:nvGraphicFramePr>
          <p:cNvPr id="4" name="Table 3"/>
          <p:cNvGraphicFramePr/>
          <p:nvPr/>
        </p:nvGraphicFramePr>
        <p:xfrm>
          <a:off x="1922145" y="2917825"/>
          <a:ext cx="5391785" cy="3267075"/>
        </p:xfrm>
        <a:graphic>
          <a:graphicData uri="http://schemas.openxmlformats.org/drawingml/2006/table">
            <a:tbl>
              <a:tblPr firstCol="1">
                <a:tableStyleId>{073A0DAA-6AF3-43AB-8588-CEC1D06C72B9}</a:tableStyleId>
              </a:tblPr>
              <a:tblGrid>
                <a:gridCol w="770255"/>
                <a:gridCol w="770255"/>
                <a:gridCol w="770255"/>
                <a:gridCol w="770255"/>
                <a:gridCol w="770255"/>
                <a:gridCol w="770255"/>
                <a:gridCol w="770255"/>
              </a:tblGrid>
              <a:tr h="65341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bg2">
                        <a:lumMod val="75000"/>
                      </a:schemeClr>
                    </a:solidFill>
                  </a:tcPr>
                </a:tc>
              </a:tr>
              <a:tr h="65341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tc>
              </a:tr>
              <a:tr h="65341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tc>
                <a:tc>
                  <a:txBody>
                    <a:bodyPr/>
                    <a:lstStyle/>
                    <a:p>
                      <a:pPr>
                        <a:buNone/>
                      </a:pPr>
                      <a:endParaRPr lang="en-GB" altLang="en-US"/>
                    </a:p>
                  </a:txBody>
                  <a:tcPr>
                    <a:solidFill>
                      <a:schemeClr val="tx1"/>
                    </a:solidFill>
                  </a:tcPr>
                </a:tc>
              </a:tr>
              <a:tr h="65341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c>
                  <a:txBody>
                    <a:bodyPr/>
                    <a:lstStyle/>
                    <a:p>
                      <a:pPr>
                        <a:buNone/>
                      </a:pPr>
                      <a:endParaRPr lang="en-GB" altLang="en-US"/>
                    </a:p>
                  </a:txBody>
                  <a:tcPr>
                    <a:solidFill>
                      <a:schemeClr val="tx1">
                        <a:lumMod val="65000"/>
                        <a:lumOff val="35000"/>
                      </a:schemeClr>
                    </a:solidFill>
                  </a:tcPr>
                </a:tc>
              </a:tr>
              <a:tr h="65341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25000"/>
                      </a:schemeClr>
                    </a:solidFill>
                  </a:tcPr>
                </a:tc>
              </a:tr>
            </a:tbl>
          </a:graphicData>
        </a:graphic>
      </p:graphicFrame>
      <p:grpSp>
        <p:nvGrpSpPr>
          <p:cNvPr id="31" name="Group 30"/>
          <p:cNvGrpSpPr/>
          <p:nvPr/>
        </p:nvGrpSpPr>
        <p:grpSpPr>
          <a:xfrm>
            <a:off x="6541770" y="2443480"/>
            <a:ext cx="594995" cy="260761"/>
            <a:chOff x="1026" y="2028"/>
            <a:chExt cx="1446" cy="634"/>
          </a:xfrm>
          <a:solidFill>
            <a:schemeClr val="accent3"/>
          </a:solidFill>
        </p:grpSpPr>
        <p:grpSp>
          <p:nvGrpSpPr>
            <p:cNvPr id="32" name="Group 31"/>
            <p:cNvGrpSpPr/>
            <p:nvPr/>
          </p:nvGrpSpPr>
          <p:grpSpPr>
            <a:xfrm>
              <a:off x="1666" y="2283"/>
              <a:ext cx="806" cy="379"/>
              <a:chOff x="10412" y="1170"/>
              <a:chExt cx="2312" cy="668"/>
            </a:xfrm>
            <a:grpFill/>
          </p:grpSpPr>
          <p:sp>
            <p:nvSpPr>
              <p:cNvPr id="33" name="Flowchart: Delay 32"/>
              <p:cNvSpPr/>
              <p:nvPr/>
            </p:nvSpPr>
            <p:spPr>
              <a:xfrm>
                <a:off x="11568" y="1170"/>
                <a:ext cx="1156" cy="669"/>
              </a:xfrm>
              <a:prstGeom prst="flowChartDelay">
                <a:avLst/>
              </a:prstGeom>
              <a:grp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sp>
            <p:nvSpPr>
              <p:cNvPr id="34" name="Flowchart: Delay 33"/>
              <p:cNvSpPr/>
              <p:nvPr/>
            </p:nvSpPr>
            <p:spPr>
              <a:xfrm rot="10800000">
                <a:off x="10412" y="1170"/>
                <a:ext cx="1156" cy="669"/>
              </a:xfrm>
              <a:prstGeom prst="flowChartDelay">
                <a:avLst/>
              </a:prstGeom>
              <a:grp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grpSp>
        <p:cxnSp>
          <p:nvCxnSpPr>
            <p:cNvPr id="35" name="Curved Connector 34"/>
            <p:cNvCxnSpPr/>
            <p:nvPr/>
          </p:nvCxnSpPr>
          <p:spPr>
            <a:xfrm>
              <a:off x="1026" y="2028"/>
              <a:ext cx="640" cy="450"/>
            </a:xfrm>
            <a:prstGeom prst="curvedConnector3">
              <a:avLst>
                <a:gd name="adj1" fmla="val 50156"/>
              </a:avLst>
            </a:prstGeom>
            <a:grpFill/>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6" name="Curved Connector 35"/>
            <p:cNvCxnSpPr/>
            <p:nvPr/>
          </p:nvCxnSpPr>
          <p:spPr>
            <a:xfrm>
              <a:off x="1026" y="2028"/>
              <a:ext cx="640" cy="450"/>
            </a:xfrm>
            <a:prstGeom prst="curvedConnector3">
              <a:avLst>
                <a:gd name="adj1" fmla="val 50156"/>
              </a:avLst>
            </a:prstGeom>
            <a:grpFill/>
            <a:ln w="381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6" name="Text Box 45"/>
          <p:cNvSpPr txBox="1"/>
          <p:nvPr/>
        </p:nvSpPr>
        <p:spPr>
          <a:xfrm>
            <a:off x="2098675" y="1518285"/>
            <a:ext cx="5038090" cy="368300"/>
          </a:xfrm>
          <a:prstGeom prst="rect">
            <a:avLst/>
          </a:prstGeom>
          <a:noFill/>
        </p:spPr>
        <p:txBody>
          <a:bodyPr wrap="square" rtlCol="0">
            <a:spAutoFit/>
          </a:bodyPr>
          <a:lstStyle/>
          <a:p>
            <a:pPr algn="ctr"/>
            <a:r>
              <a:rPr lang="en-US" altLang="en-GB"/>
              <a:t>species pool contains N kinds of species</a:t>
            </a:r>
            <a:endParaRPr lang="en-US" altLang="en-GB"/>
          </a:p>
        </p:txBody>
      </p:sp>
      <p:sp>
        <p:nvSpPr>
          <p:cNvPr id="51" name="Regular Pentagon 50"/>
          <p:cNvSpPr/>
          <p:nvPr/>
        </p:nvSpPr>
        <p:spPr>
          <a:xfrm>
            <a:off x="1311275" y="5719445"/>
            <a:ext cx="367665" cy="367665"/>
          </a:xfrm>
          <a:prstGeom prst="pentagon">
            <a:avLst/>
          </a:prstGeom>
          <a:solidFill>
            <a:schemeClr val="accent3">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grpSp>
        <p:nvGrpSpPr>
          <p:cNvPr id="52" name="Group 51"/>
          <p:cNvGrpSpPr/>
          <p:nvPr/>
        </p:nvGrpSpPr>
        <p:grpSpPr>
          <a:xfrm>
            <a:off x="1871980" y="2443480"/>
            <a:ext cx="594995" cy="260350"/>
            <a:chOff x="1026" y="2028"/>
            <a:chExt cx="1446" cy="633"/>
          </a:xfrm>
        </p:grpSpPr>
        <p:grpSp>
          <p:nvGrpSpPr>
            <p:cNvPr id="53" name="Group 52"/>
            <p:cNvGrpSpPr/>
            <p:nvPr/>
          </p:nvGrpSpPr>
          <p:grpSpPr>
            <a:xfrm>
              <a:off x="1666" y="2283"/>
              <a:ext cx="806" cy="379"/>
              <a:chOff x="10412" y="1170"/>
              <a:chExt cx="2312" cy="668"/>
            </a:xfrm>
          </p:grpSpPr>
          <p:sp>
            <p:nvSpPr>
              <p:cNvPr id="54" name="Flowchart: Delay 53"/>
              <p:cNvSpPr/>
              <p:nvPr/>
            </p:nvSpPr>
            <p:spPr>
              <a:xfrm>
                <a:off x="11568" y="1170"/>
                <a:ext cx="1156" cy="669"/>
              </a:xfrm>
              <a:prstGeom prst="flowChartDelay">
                <a:avLst/>
              </a:prstGeom>
              <a:solidFill>
                <a:schemeClr val="accent6">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sp>
            <p:nvSpPr>
              <p:cNvPr id="55" name="Flowchart: Delay 54"/>
              <p:cNvSpPr/>
              <p:nvPr/>
            </p:nvSpPr>
            <p:spPr>
              <a:xfrm rot="10800000">
                <a:off x="10412" y="1170"/>
                <a:ext cx="1156" cy="669"/>
              </a:xfrm>
              <a:prstGeom prst="flowChartDelay">
                <a:avLst/>
              </a:prstGeom>
              <a:solidFill>
                <a:schemeClr val="accent6">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grpSp>
        <p:cxnSp>
          <p:nvCxnSpPr>
            <p:cNvPr id="56" name="Curved Connector 55"/>
            <p:cNvCxnSpPr/>
            <p:nvPr/>
          </p:nvCxnSpPr>
          <p:spPr>
            <a:xfrm>
              <a:off x="1026" y="2028"/>
              <a:ext cx="640" cy="450"/>
            </a:xfrm>
            <a:prstGeom prst="curvedConnector3">
              <a:avLst>
                <a:gd name="adj1" fmla="val 50156"/>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2616835" y="2443480"/>
            <a:ext cx="594995" cy="260350"/>
            <a:chOff x="1026" y="2028"/>
            <a:chExt cx="1446" cy="633"/>
          </a:xfrm>
          <a:solidFill>
            <a:schemeClr val="accent5">
              <a:lumMod val="60000"/>
              <a:lumOff val="40000"/>
            </a:schemeClr>
          </a:solidFill>
        </p:grpSpPr>
        <p:grpSp>
          <p:nvGrpSpPr>
            <p:cNvPr id="58" name="Group 57"/>
            <p:cNvGrpSpPr/>
            <p:nvPr/>
          </p:nvGrpSpPr>
          <p:grpSpPr>
            <a:xfrm>
              <a:off x="1666" y="2283"/>
              <a:ext cx="806" cy="379"/>
              <a:chOff x="10412" y="1170"/>
              <a:chExt cx="2312" cy="668"/>
            </a:xfrm>
            <a:grpFill/>
          </p:grpSpPr>
          <p:sp>
            <p:nvSpPr>
              <p:cNvPr id="59" name="Flowchart: Delay 58"/>
              <p:cNvSpPr/>
              <p:nvPr/>
            </p:nvSpPr>
            <p:spPr>
              <a:xfrm>
                <a:off x="11568" y="1170"/>
                <a:ext cx="1156" cy="669"/>
              </a:xfrm>
              <a:prstGeom prst="flowChartDelay">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sp>
            <p:nvSpPr>
              <p:cNvPr id="60" name="Flowchart: Delay 59"/>
              <p:cNvSpPr/>
              <p:nvPr/>
            </p:nvSpPr>
            <p:spPr>
              <a:xfrm rot="10800000">
                <a:off x="10412" y="1170"/>
                <a:ext cx="1156" cy="669"/>
              </a:xfrm>
              <a:prstGeom prst="flowChartDelay">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grpSp>
        <p:cxnSp>
          <p:nvCxnSpPr>
            <p:cNvPr id="61" name="Curved Connector 60"/>
            <p:cNvCxnSpPr/>
            <p:nvPr/>
          </p:nvCxnSpPr>
          <p:spPr>
            <a:xfrm>
              <a:off x="1026" y="2028"/>
              <a:ext cx="640" cy="450"/>
            </a:xfrm>
            <a:prstGeom prst="curvedConnector3">
              <a:avLst>
                <a:gd name="adj1" fmla="val 50156"/>
              </a:avLst>
            </a:prstGeom>
            <a:grpFill/>
            <a:ln w="381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62" name="Text Box 61"/>
          <p:cNvSpPr txBox="1"/>
          <p:nvPr/>
        </p:nvSpPr>
        <p:spPr>
          <a:xfrm>
            <a:off x="4245610" y="2168525"/>
            <a:ext cx="1179195" cy="706755"/>
          </a:xfrm>
          <a:prstGeom prst="rect">
            <a:avLst/>
          </a:prstGeom>
          <a:noFill/>
        </p:spPr>
        <p:txBody>
          <a:bodyPr wrap="square" rtlCol="0">
            <a:spAutoFit/>
          </a:bodyPr>
          <a:lstStyle/>
          <a:p>
            <a:r>
              <a:rPr lang="en-US" altLang="en-GB" sz="4000"/>
              <a:t>......</a:t>
            </a:r>
            <a:endParaRPr lang="en-US" altLang="en-GB" sz="4000"/>
          </a:p>
        </p:txBody>
      </p:sp>
      <p:grpSp>
        <p:nvGrpSpPr>
          <p:cNvPr id="64" name="Group 63"/>
          <p:cNvGrpSpPr/>
          <p:nvPr/>
        </p:nvGrpSpPr>
        <p:grpSpPr>
          <a:xfrm>
            <a:off x="5697855" y="2443480"/>
            <a:ext cx="594995" cy="260761"/>
            <a:chOff x="1026" y="2028"/>
            <a:chExt cx="1446" cy="634"/>
          </a:xfrm>
          <a:solidFill>
            <a:schemeClr val="accent4">
              <a:lumMod val="60000"/>
              <a:lumOff val="40000"/>
            </a:schemeClr>
          </a:solidFill>
        </p:grpSpPr>
        <p:grpSp>
          <p:nvGrpSpPr>
            <p:cNvPr id="65" name="Group 64"/>
            <p:cNvGrpSpPr/>
            <p:nvPr/>
          </p:nvGrpSpPr>
          <p:grpSpPr>
            <a:xfrm>
              <a:off x="1666" y="2283"/>
              <a:ext cx="806" cy="379"/>
              <a:chOff x="10412" y="1170"/>
              <a:chExt cx="2312" cy="668"/>
            </a:xfrm>
            <a:grpFill/>
          </p:grpSpPr>
          <p:sp>
            <p:nvSpPr>
              <p:cNvPr id="66" name="Flowchart: Delay 65"/>
              <p:cNvSpPr/>
              <p:nvPr/>
            </p:nvSpPr>
            <p:spPr>
              <a:xfrm>
                <a:off x="11568" y="1170"/>
                <a:ext cx="1156" cy="669"/>
              </a:xfrm>
              <a:prstGeom prst="flowChartDelay">
                <a:avLst/>
              </a:prstGeom>
              <a:grpFill/>
              <a:ln>
                <a:solidFill>
                  <a:schemeClr val="accent4">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sp>
            <p:nvSpPr>
              <p:cNvPr id="67" name="Flowchart: Delay 66"/>
              <p:cNvSpPr/>
              <p:nvPr/>
            </p:nvSpPr>
            <p:spPr>
              <a:xfrm rot="10800000">
                <a:off x="10412" y="1170"/>
                <a:ext cx="1156" cy="669"/>
              </a:xfrm>
              <a:prstGeom prst="flowChartDelay">
                <a:avLst/>
              </a:prstGeom>
              <a:grpFill/>
              <a:ln>
                <a:solidFill>
                  <a:schemeClr val="accent4">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grpSp>
        <p:cxnSp>
          <p:nvCxnSpPr>
            <p:cNvPr id="68" name="Curved Connector 67"/>
            <p:cNvCxnSpPr/>
            <p:nvPr/>
          </p:nvCxnSpPr>
          <p:spPr>
            <a:xfrm>
              <a:off x="1026" y="2028"/>
              <a:ext cx="640" cy="450"/>
            </a:xfrm>
            <a:prstGeom prst="curvedConnector3">
              <a:avLst>
                <a:gd name="adj1" fmla="val 50156"/>
              </a:avLst>
            </a:prstGeom>
            <a:grpFill/>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Curved Connector 68"/>
            <p:cNvCxnSpPr/>
            <p:nvPr/>
          </p:nvCxnSpPr>
          <p:spPr>
            <a:xfrm>
              <a:off x="1026" y="2028"/>
              <a:ext cx="640" cy="450"/>
            </a:xfrm>
            <a:prstGeom prst="curvedConnector3">
              <a:avLst>
                <a:gd name="adj1" fmla="val 50156"/>
              </a:avLst>
            </a:prstGeom>
            <a:grpFill/>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3338830" y="2443480"/>
            <a:ext cx="594995" cy="260761"/>
            <a:chOff x="1026" y="2028"/>
            <a:chExt cx="1446" cy="634"/>
          </a:xfrm>
          <a:solidFill>
            <a:schemeClr val="accent5">
              <a:lumMod val="60000"/>
              <a:lumOff val="40000"/>
            </a:schemeClr>
          </a:solidFill>
        </p:grpSpPr>
        <p:grpSp>
          <p:nvGrpSpPr>
            <p:cNvPr id="71" name="Group 70"/>
            <p:cNvGrpSpPr/>
            <p:nvPr/>
          </p:nvGrpSpPr>
          <p:grpSpPr>
            <a:xfrm>
              <a:off x="1666" y="2283"/>
              <a:ext cx="806" cy="379"/>
              <a:chOff x="10412" y="1170"/>
              <a:chExt cx="2312" cy="668"/>
            </a:xfrm>
            <a:grpFill/>
          </p:grpSpPr>
          <p:sp>
            <p:nvSpPr>
              <p:cNvPr id="72" name="Flowchart: Delay 71"/>
              <p:cNvSpPr/>
              <p:nvPr/>
            </p:nvSpPr>
            <p:spPr>
              <a:xfrm>
                <a:off x="11568" y="1170"/>
                <a:ext cx="1156" cy="669"/>
              </a:xfrm>
              <a:prstGeom prst="flowChartDelay">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sp>
            <p:nvSpPr>
              <p:cNvPr id="73" name="Flowchart: Delay 72"/>
              <p:cNvSpPr/>
              <p:nvPr/>
            </p:nvSpPr>
            <p:spPr>
              <a:xfrm rot="10800000">
                <a:off x="10412" y="1170"/>
                <a:ext cx="1156" cy="669"/>
              </a:xfrm>
              <a:prstGeom prst="flowChartDelay">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tLang="en-US"/>
              </a:p>
            </p:txBody>
          </p:sp>
        </p:grpSp>
        <p:cxnSp>
          <p:nvCxnSpPr>
            <p:cNvPr id="74" name="Curved Connector 73"/>
            <p:cNvCxnSpPr/>
            <p:nvPr/>
          </p:nvCxnSpPr>
          <p:spPr>
            <a:xfrm>
              <a:off x="1026" y="2028"/>
              <a:ext cx="640" cy="450"/>
            </a:xfrm>
            <a:prstGeom prst="curvedConnector3">
              <a:avLst>
                <a:gd name="adj1" fmla="val 50156"/>
              </a:avLst>
            </a:prstGeom>
            <a:grpFill/>
            <a:ln w="381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5" name="Curved Connector 74"/>
            <p:cNvCxnSpPr/>
            <p:nvPr/>
          </p:nvCxnSpPr>
          <p:spPr>
            <a:xfrm>
              <a:off x="1026" y="2028"/>
              <a:ext cx="640" cy="450"/>
            </a:xfrm>
            <a:prstGeom prst="curvedConnector3">
              <a:avLst>
                <a:gd name="adj1" fmla="val 50156"/>
              </a:avLst>
            </a:prstGeom>
            <a:solidFill>
              <a:schemeClr val="accent5">
                <a:lumMod val="60000"/>
                <a:lumOff val="40000"/>
              </a:schemeClr>
            </a:solidFill>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1" name="Left Bracket 100"/>
          <p:cNvSpPr/>
          <p:nvPr/>
        </p:nvSpPr>
        <p:spPr>
          <a:xfrm rot="5400000">
            <a:off x="4469130" y="-626745"/>
            <a:ext cx="244475" cy="5438775"/>
          </a:xfrm>
          <a:prstGeom prst="lef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tLang="en-US"/>
          </a:p>
        </p:txBody>
      </p:sp>
      <p:sp>
        <p:nvSpPr>
          <p:cNvPr id="102" name="Left Bracket 101"/>
          <p:cNvSpPr/>
          <p:nvPr/>
        </p:nvSpPr>
        <p:spPr>
          <a:xfrm>
            <a:off x="906145" y="2814320"/>
            <a:ext cx="253365" cy="3335655"/>
          </a:xfrm>
          <a:prstGeom prst="lef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tLang="en-US"/>
          </a:p>
        </p:txBody>
      </p:sp>
      <p:sp>
        <p:nvSpPr>
          <p:cNvPr id="103" name="Text Box 102"/>
          <p:cNvSpPr txBox="1"/>
          <p:nvPr/>
        </p:nvSpPr>
        <p:spPr>
          <a:xfrm>
            <a:off x="280670" y="3029585"/>
            <a:ext cx="459740" cy="2657475"/>
          </a:xfrm>
          <a:prstGeom prst="rect">
            <a:avLst/>
          </a:prstGeom>
          <a:noFill/>
        </p:spPr>
        <p:txBody>
          <a:bodyPr vert="vert270" wrap="square" rtlCol="0">
            <a:spAutoFit/>
          </a:bodyPr>
          <a:lstStyle/>
          <a:p>
            <a:r>
              <a:rPr lang="en-US" altLang="en-GB"/>
              <a:t>M types of resources</a:t>
            </a:r>
            <a:endParaRPr lang="en-US" altLang="en-GB"/>
          </a:p>
        </p:txBody>
      </p:sp>
      <p:sp>
        <p:nvSpPr>
          <p:cNvPr id="104" name="Title 1"/>
          <p:cNvSpPr>
            <a:spLocks noGrp="1"/>
          </p:cNvSpPr>
          <p:nvPr/>
        </p:nvSpPr>
        <p:spPr>
          <a:xfrm>
            <a:off x="737235" y="731520"/>
            <a:ext cx="10398760" cy="765810"/>
          </a:xfrm>
          <a:prstGeom prst="flowChartDelay">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a:t>Set a </a:t>
            </a:r>
            <a:r>
              <a:rPr lang="en-US" altLang="en-US" sz="2400" b="1"/>
              <a:t>big pool</a:t>
            </a:r>
            <a:r>
              <a:rPr lang="en-US" altLang="en-US" sz="2400"/>
              <a:t> and select from it according to </a:t>
            </a:r>
            <a:r>
              <a:rPr lang="en-US" altLang="en-US" sz="2400" b="1"/>
              <a:t>indices</a:t>
            </a:r>
            <a:endParaRPr lang="en-US" altLang="en-US" sz="2400" b="1"/>
          </a:p>
        </p:txBody>
      </p:sp>
      <p:graphicFrame>
        <p:nvGraphicFramePr>
          <p:cNvPr id="105" name="Table 104"/>
          <p:cNvGraphicFramePr/>
          <p:nvPr/>
        </p:nvGraphicFramePr>
        <p:xfrm>
          <a:off x="8987155" y="1865630"/>
          <a:ext cx="2190750" cy="1857375"/>
        </p:xfrm>
        <a:graphic>
          <a:graphicData uri="http://schemas.openxmlformats.org/drawingml/2006/table">
            <a:tbl>
              <a:tblPr firstCol="1">
                <a:tableStyleId>{073A0DAA-6AF3-43AB-8588-CEC1D06C72B9}</a:tableStyleId>
              </a:tblPr>
              <a:tblGrid>
                <a:gridCol w="438150"/>
                <a:gridCol w="438150"/>
                <a:gridCol w="438150"/>
                <a:gridCol w="438150"/>
                <a:gridCol w="438150"/>
              </a:tblGrid>
              <a:tr h="37147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r>
              <a:tr h="37147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r>
              <a:tr h="37147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r>
            </a:tbl>
          </a:graphicData>
        </a:graphic>
      </p:graphicFrame>
      <p:graphicFrame>
        <p:nvGraphicFramePr>
          <p:cNvPr id="106" name="Table 105"/>
          <p:cNvGraphicFramePr/>
          <p:nvPr/>
        </p:nvGraphicFramePr>
        <p:xfrm>
          <a:off x="9114155" y="1992630"/>
          <a:ext cx="2190750" cy="1857375"/>
        </p:xfrm>
        <a:graphic>
          <a:graphicData uri="http://schemas.openxmlformats.org/drawingml/2006/table">
            <a:tbl>
              <a:tblPr firstCol="1">
                <a:tableStyleId>{073A0DAA-6AF3-43AB-8588-CEC1D06C72B9}</a:tableStyleId>
              </a:tblPr>
              <a:tblGrid>
                <a:gridCol w="438150"/>
                <a:gridCol w="438150"/>
                <a:gridCol w="438150"/>
                <a:gridCol w="438150"/>
                <a:gridCol w="438150"/>
              </a:tblGrid>
              <a:tr h="37147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r>
              <a:tr h="37147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r>
              <a:tr h="37147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r>
            </a:tbl>
          </a:graphicData>
        </a:graphic>
      </p:graphicFrame>
      <p:graphicFrame>
        <p:nvGraphicFramePr>
          <p:cNvPr id="107" name="Table 106"/>
          <p:cNvGraphicFramePr/>
          <p:nvPr/>
        </p:nvGraphicFramePr>
        <p:xfrm>
          <a:off x="9241155" y="2119630"/>
          <a:ext cx="2190750" cy="1857375"/>
        </p:xfrm>
        <a:graphic>
          <a:graphicData uri="http://schemas.openxmlformats.org/drawingml/2006/table">
            <a:tbl>
              <a:tblPr firstCol="1">
                <a:tableStyleId>{073A0DAA-6AF3-43AB-8588-CEC1D06C72B9}</a:tableStyleId>
              </a:tblPr>
              <a:tblGrid>
                <a:gridCol w="438150"/>
                <a:gridCol w="438150"/>
                <a:gridCol w="438150"/>
                <a:gridCol w="438150"/>
                <a:gridCol w="438150"/>
              </a:tblGrid>
              <a:tr h="37147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r>
              <a:tr h="37147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r>
              <a:tr h="37147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r>
            </a:tbl>
          </a:graphicData>
        </a:graphic>
      </p:graphicFrame>
      <p:graphicFrame>
        <p:nvGraphicFramePr>
          <p:cNvPr id="108" name="Table 107"/>
          <p:cNvGraphicFramePr/>
          <p:nvPr/>
        </p:nvGraphicFramePr>
        <p:xfrm>
          <a:off x="9368155" y="2246630"/>
          <a:ext cx="2190750" cy="1857375"/>
        </p:xfrm>
        <a:graphic>
          <a:graphicData uri="http://schemas.openxmlformats.org/drawingml/2006/table">
            <a:tbl>
              <a:tblPr firstCol="1">
                <a:tableStyleId>{073A0DAA-6AF3-43AB-8588-CEC1D06C72B9}</a:tableStyleId>
              </a:tblPr>
              <a:tblGrid>
                <a:gridCol w="438150"/>
                <a:gridCol w="438150"/>
                <a:gridCol w="438150"/>
                <a:gridCol w="438150"/>
                <a:gridCol w="438150"/>
              </a:tblGrid>
              <a:tr h="37147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r>
              <a:tr h="37147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r>
              <a:tr h="37147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r>
            </a:tbl>
          </a:graphicData>
        </a:graphic>
      </p:graphicFrame>
      <p:graphicFrame>
        <p:nvGraphicFramePr>
          <p:cNvPr id="109" name="Table 108"/>
          <p:cNvGraphicFramePr/>
          <p:nvPr/>
        </p:nvGraphicFramePr>
        <p:xfrm>
          <a:off x="9495155" y="2373630"/>
          <a:ext cx="2190750" cy="1857375"/>
        </p:xfrm>
        <a:graphic>
          <a:graphicData uri="http://schemas.openxmlformats.org/drawingml/2006/table">
            <a:tbl>
              <a:tblPr firstCol="1">
                <a:tableStyleId>{073A0DAA-6AF3-43AB-8588-CEC1D06C72B9}</a:tableStyleId>
              </a:tblPr>
              <a:tblGrid>
                <a:gridCol w="438150"/>
                <a:gridCol w="438150"/>
                <a:gridCol w="438150"/>
                <a:gridCol w="438150"/>
                <a:gridCol w="438150"/>
              </a:tblGrid>
              <a:tr h="371475">
                <a:tc>
                  <a:txBody>
                    <a:bodyPr/>
                    <a:lstStyle/>
                    <a:p>
                      <a:pPr>
                        <a:buNone/>
                      </a:pPr>
                      <a:endParaRPr lang="en-GB" altLang="en-US"/>
                    </a:p>
                  </a:txBody>
                  <a:tcPr>
                    <a:solidFill>
                      <a:schemeClr val="tx1"/>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tc>
                <a:tc>
                  <a:txBody>
                    <a:bodyPr/>
                    <a:lstStyle/>
                    <a:p>
                      <a:pPr>
                        <a:buNone/>
                      </a:pPr>
                      <a:endParaRPr lang="en-GB" altLang="en-US"/>
                    </a:p>
                  </a:txBody>
                  <a:tcPr>
                    <a:solidFill>
                      <a:schemeClr val="bg1">
                        <a:lumMod val="8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solidFill>
                  </a:tcPr>
                </a:tc>
                <a:tc>
                  <a:txBody>
                    <a:bodyPr/>
                    <a:lstStyle/>
                    <a:p>
                      <a:pPr>
                        <a:buNone/>
                      </a:pPr>
                      <a:endParaRPr lang="en-GB" altLang="en-US"/>
                    </a:p>
                  </a:txBody>
                  <a:tcPr/>
                </a:tc>
              </a:tr>
              <a:tr h="371475">
                <a:tc>
                  <a:txBody>
                    <a:bodyPr/>
                    <a:lstStyle/>
                    <a:p>
                      <a:pPr>
                        <a:buNone/>
                      </a:pPr>
                      <a:endParaRPr lang="en-GB" altLang="en-US"/>
                    </a:p>
                  </a:txBody>
                  <a:tcPr>
                    <a:solidFill>
                      <a:schemeClr val="bg2">
                        <a:lumMod val="90000"/>
                      </a:schemeClr>
                    </a:solidFill>
                  </a:tcPr>
                </a:tc>
                <a:tc>
                  <a:txBody>
                    <a:bodyPr/>
                    <a:lstStyle/>
                    <a:p>
                      <a:pPr>
                        <a:buNone/>
                      </a:pPr>
                      <a:endParaRPr lang="en-GB" altLang="en-US"/>
                    </a:p>
                  </a:txBody>
                  <a:tcPr>
                    <a:solidFill>
                      <a:schemeClr val="tx1">
                        <a:lumMod val="95000"/>
                        <a:lumOff val="5000"/>
                      </a:schemeClr>
                    </a:solidFill>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solidFill>
                      <a:schemeClr val="bg2">
                        <a:lumMod val="75000"/>
                      </a:schemeClr>
                    </a:solidFill>
                  </a:tcPr>
                </a:tc>
              </a:tr>
              <a:tr h="371475">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lumMod val="75000"/>
                        <a:lumOff val="25000"/>
                      </a:schemeClr>
                    </a:solidFill>
                  </a:tcPr>
                </a:tc>
                <a:tc>
                  <a:txBody>
                    <a:bodyPr/>
                    <a:lstStyle/>
                    <a:p>
                      <a:pPr>
                        <a:buNone/>
                      </a:pPr>
                      <a:endParaRPr lang="en-GB" altLang="en-US"/>
                    </a:p>
                  </a:txBody>
                  <a:tcPr>
                    <a:solidFill>
                      <a:schemeClr val="tx1"/>
                    </a:solidFill>
                  </a:tcPr>
                </a:tc>
              </a:tr>
              <a:tr h="371475">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tx1">
                        <a:lumMod val="50000"/>
                        <a:lumOff val="50000"/>
                      </a:schemeClr>
                    </a:solidFill>
                  </a:tcPr>
                </a:tc>
                <a:tc>
                  <a:txBody>
                    <a:bodyPr/>
                    <a:lstStyle/>
                    <a:p>
                      <a:pPr>
                        <a:buNone/>
                      </a:pPr>
                      <a:endParaRPr lang="en-GB" altLang="en-US"/>
                    </a:p>
                  </a:txBody>
                  <a:tcPr>
                    <a:solidFill>
                      <a:schemeClr val="bg2">
                        <a:lumMod val="75000"/>
                      </a:schemeClr>
                    </a:solidFill>
                  </a:tcPr>
                </a:tc>
                <a:tc>
                  <a:txBody>
                    <a:bodyPr/>
                    <a:lstStyle/>
                    <a:p>
                      <a:pPr>
                        <a:buNone/>
                      </a:pPr>
                      <a:endParaRPr lang="en-GB" altLang="en-US"/>
                    </a:p>
                  </a:txBody>
                  <a:tcPr>
                    <a:solidFill>
                      <a:schemeClr val="bg2">
                        <a:lumMod val="50000"/>
                      </a:schemeClr>
                    </a:solidFill>
                  </a:tcPr>
                </a:tc>
                <a:tc>
                  <a:txBody>
                    <a:bodyPr/>
                    <a:lstStyle/>
                    <a:p>
                      <a:pPr>
                        <a:buNone/>
                      </a:pPr>
                      <a:endParaRPr lang="en-GB" altLang="en-US"/>
                    </a:p>
                  </a:txBody>
                  <a:tcPr>
                    <a:solidFill>
                      <a:schemeClr val="bg2">
                        <a:lumMod val="75000"/>
                      </a:schemeClr>
                    </a:solidFill>
                  </a:tcPr>
                </a:tc>
              </a:tr>
            </a:tbl>
          </a:graphicData>
        </a:graphic>
      </p:graphicFrame>
      <p:sp>
        <p:nvSpPr>
          <p:cNvPr id="110" name="Diamond 109"/>
          <p:cNvSpPr/>
          <p:nvPr/>
        </p:nvSpPr>
        <p:spPr>
          <a:xfrm>
            <a:off x="1329055" y="2941320"/>
            <a:ext cx="367665" cy="360680"/>
          </a:xfrm>
          <a:prstGeom prst="diamond">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1" name="Diamond 110"/>
          <p:cNvSpPr/>
          <p:nvPr/>
        </p:nvSpPr>
        <p:spPr>
          <a:xfrm>
            <a:off x="1329055" y="3683635"/>
            <a:ext cx="367665" cy="360680"/>
          </a:xfrm>
          <a:prstGeom prst="diamond">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2" name="Hexagon 111"/>
          <p:cNvSpPr/>
          <p:nvPr/>
        </p:nvSpPr>
        <p:spPr>
          <a:xfrm flipH="1">
            <a:off x="11762105" y="3213100"/>
            <a:ext cx="205105" cy="179070"/>
          </a:xfrm>
          <a:prstGeom prst="hexag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3" name="Hexagon 112"/>
          <p:cNvSpPr/>
          <p:nvPr/>
        </p:nvSpPr>
        <p:spPr>
          <a:xfrm flipH="1">
            <a:off x="11762105" y="3586480"/>
            <a:ext cx="205105" cy="179070"/>
          </a:xfrm>
          <a:prstGeom prst="hex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4" name="Regular Pentagon 113"/>
          <p:cNvSpPr/>
          <p:nvPr/>
        </p:nvSpPr>
        <p:spPr>
          <a:xfrm flipH="1">
            <a:off x="11772900" y="3949065"/>
            <a:ext cx="183515" cy="184150"/>
          </a:xfrm>
          <a:prstGeom prst="pentagon">
            <a:avLst/>
          </a:prstGeom>
          <a:solidFill>
            <a:schemeClr val="accent3">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5" name="Diamond 114"/>
          <p:cNvSpPr/>
          <p:nvPr/>
        </p:nvSpPr>
        <p:spPr>
          <a:xfrm flipH="1">
            <a:off x="11772900" y="2431415"/>
            <a:ext cx="200025" cy="196850"/>
          </a:xfrm>
          <a:prstGeom prst="diamond">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16" name="Diamond 115"/>
          <p:cNvSpPr/>
          <p:nvPr/>
        </p:nvSpPr>
        <p:spPr>
          <a:xfrm flipH="1">
            <a:off x="11772900" y="2814320"/>
            <a:ext cx="200025" cy="196850"/>
          </a:xfrm>
          <a:prstGeom prst="diamond">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35" name="Regular Pentagon 134"/>
          <p:cNvSpPr/>
          <p:nvPr/>
        </p:nvSpPr>
        <p:spPr>
          <a:xfrm flipH="1">
            <a:off x="11375390" y="4257675"/>
            <a:ext cx="183515" cy="184150"/>
          </a:xfrm>
          <a:prstGeom prst="pentagon">
            <a:avLst/>
          </a:prstGeom>
          <a:solidFill>
            <a:schemeClr val="accent3">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36" name="Hexagon 135"/>
          <p:cNvSpPr/>
          <p:nvPr/>
        </p:nvSpPr>
        <p:spPr>
          <a:xfrm flipH="1">
            <a:off x="10930890" y="4266565"/>
            <a:ext cx="205105" cy="179070"/>
          </a:xfrm>
          <a:prstGeom prst="hex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37" name="Hexagon 136"/>
          <p:cNvSpPr/>
          <p:nvPr/>
        </p:nvSpPr>
        <p:spPr>
          <a:xfrm flipH="1">
            <a:off x="10488295" y="4268470"/>
            <a:ext cx="205105" cy="179070"/>
          </a:xfrm>
          <a:prstGeom prst="hexag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38" name="Diamond 137"/>
          <p:cNvSpPr/>
          <p:nvPr/>
        </p:nvSpPr>
        <p:spPr>
          <a:xfrm flipH="1">
            <a:off x="10062845" y="4266565"/>
            <a:ext cx="200025" cy="196850"/>
          </a:xfrm>
          <a:prstGeom prst="diamond">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39" name="Diamond 138"/>
          <p:cNvSpPr/>
          <p:nvPr/>
        </p:nvSpPr>
        <p:spPr>
          <a:xfrm flipH="1">
            <a:off x="9620885" y="4258945"/>
            <a:ext cx="200025" cy="196850"/>
          </a:xfrm>
          <a:prstGeom prst="diamond">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40" name="Left Bracket 139"/>
          <p:cNvSpPr/>
          <p:nvPr/>
        </p:nvSpPr>
        <p:spPr>
          <a:xfrm rot="18720000">
            <a:off x="8909685" y="3745865"/>
            <a:ext cx="125730" cy="782320"/>
          </a:xfrm>
          <a:prstGeom prst="lef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tLang="en-US"/>
          </a:p>
        </p:txBody>
      </p:sp>
      <p:sp>
        <p:nvSpPr>
          <p:cNvPr id="141" name="Text Box 140"/>
          <p:cNvSpPr txBox="1"/>
          <p:nvPr/>
        </p:nvSpPr>
        <p:spPr>
          <a:xfrm>
            <a:off x="8555355" y="4165600"/>
            <a:ext cx="353695" cy="368300"/>
          </a:xfrm>
          <a:prstGeom prst="rect">
            <a:avLst/>
          </a:prstGeom>
          <a:noFill/>
        </p:spPr>
        <p:txBody>
          <a:bodyPr wrap="none" rtlCol="0" anchor="t">
            <a:spAutoFit/>
          </a:bodyPr>
          <a:lstStyle/>
          <a:p>
            <a:r>
              <a:rPr lang="en-US" altLang="en-GB">
                <a:sym typeface="+mn-ea"/>
              </a:rPr>
              <a:t>N</a:t>
            </a:r>
            <a:endParaRPr lang="en-GB" altLang="en-US"/>
          </a:p>
        </p:txBody>
      </p:sp>
      <p:sp>
        <p:nvSpPr>
          <p:cNvPr id="142" name="Text Box 141"/>
          <p:cNvSpPr txBox="1"/>
          <p:nvPr/>
        </p:nvSpPr>
        <p:spPr>
          <a:xfrm>
            <a:off x="7856855" y="1497330"/>
            <a:ext cx="3575050" cy="368300"/>
          </a:xfrm>
          <a:prstGeom prst="rect">
            <a:avLst/>
          </a:prstGeom>
          <a:noFill/>
        </p:spPr>
        <p:txBody>
          <a:bodyPr wrap="square" rtlCol="0">
            <a:spAutoFit/>
          </a:bodyPr>
          <a:lstStyle/>
          <a:p>
            <a:pPr algn="ctr"/>
            <a:r>
              <a:rPr lang="en-US" altLang="en-US"/>
              <a:t>leakage matrices</a:t>
            </a:r>
            <a:endParaRPr lang="en-US" altLang="en-US"/>
          </a:p>
        </p:txBody>
      </p:sp>
      <p:sp>
        <p:nvSpPr>
          <p:cNvPr id="143" name="Hexagon 142"/>
          <p:cNvSpPr/>
          <p:nvPr/>
        </p:nvSpPr>
        <p:spPr>
          <a:xfrm>
            <a:off x="1311275" y="4349750"/>
            <a:ext cx="376555" cy="328295"/>
          </a:xfrm>
          <a:prstGeom prst="hexag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44" name="Hexagon 143"/>
          <p:cNvSpPr/>
          <p:nvPr/>
        </p:nvSpPr>
        <p:spPr>
          <a:xfrm>
            <a:off x="1320165" y="4986020"/>
            <a:ext cx="376555" cy="328295"/>
          </a:xfrm>
          <a:prstGeom prst="hex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a:p>
        </p:txBody>
      </p:sp>
      <p:sp>
        <p:nvSpPr>
          <p:cNvPr id="164" name="Text Box 163"/>
          <p:cNvSpPr txBox="1"/>
          <p:nvPr/>
        </p:nvSpPr>
        <p:spPr>
          <a:xfrm>
            <a:off x="7439660" y="3054985"/>
            <a:ext cx="1712595" cy="337185"/>
          </a:xfrm>
          <a:prstGeom prst="rect">
            <a:avLst/>
          </a:prstGeom>
          <a:noFill/>
        </p:spPr>
        <p:txBody>
          <a:bodyPr wrap="square" rtlCol="0">
            <a:spAutoFit/>
          </a:bodyPr>
          <a:lstStyle/>
          <a:p>
            <a:r>
              <a:rPr lang="en-US" altLang="en-GB" sz="1600" b="1">
                <a:ln/>
                <a:solidFill>
                  <a:schemeClr val="tx1"/>
                </a:solidFill>
                <a:effectLst/>
              </a:rPr>
              <a:t>row sum = 1</a:t>
            </a:r>
            <a:endParaRPr lang="en-US" altLang="en-GB" sz="1600" b="1">
              <a:ln/>
              <a:solidFill>
                <a:schemeClr val="tx1"/>
              </a:solidFill>
              <a:effectLst/>
            </a:endParaRPr>
          </a:p>
        </p:txBody>
      </p:sp>
      <p:cxnSp>
        <p:nvCxnSpPr>
          <p:cNvPr id="5" name="Straight Arrow Connector 4"/>
          <p:cNvCxnSpPr>
            <a:stCxn id="9" idx="1"/>
          </p:cNvCxnSpPr>
          <p:nvPr/>
        </p:nvCxnSpPr>
        <p:spPr>
          <a:xfrm flipH="1" flipV="1">
            <a:off x="8763635" y="2555240"/>
            <a:ext cx="604520" cy="1270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6" name="Text Box 5"/>
          <p:cNvSpPr txBox="1"/>
          <p:nvPr/>
        </p:nvSpPr>
        <p:spPr>
          <a:xfrm>
            <a:off x="7274560" y="2391410"/>
            <a:ext cx="1712595" cy="337185"/>
          </a:xfrm>
          <a:prstGeom prst="rect">
            <a:avLst/>
          </a:prstGeom>
          <a:noFill/>
        </p:spPr>
        <p:txBody>
          <a:bodyPr wrap="square" rtlCol="0">
            <a:spAutoFit/>
          </a:bodyPr>
          <a:lstStyle/>
          <a:p>
            <a:r>
              <a:rPr lang="en-US" altLang="en-GB" sz="1600" b="1">
                <a:ln/>
                <a:solidFill>
                  <a:schemeClr val="tx1"/>
                </a:solidFill>
                <a:effectLst/>
              </a:rPr>
              <a:t>row sum = λ</a:t>
            </a:r>
            <a:endParaRPr lang="en-US" altLang="en-GB" sz="1600" b="1">
              <a:ln/>
              <a:solidFill>
                <a:schemeClr val="tx1"/>
              </a:solidFill>
              <a:effectLst/>
            </a:endParaRPr>
          </a:p>
        </p:txBody>
      </p:sp>
      <p:sp>
        <p:nvSpPr>
          <p:cNvPr id="8" name="Double Bracket 7"/>
          <p:cNvSpPr/>
          <p:nvPr/>
        </p:nvSpPr>
        <p:spPr>
          <a:xfrm>
            <a:off x="1772285" y="2970530"/>
            <a:ext cx="5667375" cy="506095"/>
          </a:xfrm>
          <a:prstGeom prst="bracketPair">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tLang="en-US"/>
          </a:p>
        </p:txBody>
      </p:sp>
      <p:sp>
        <p:nvSpPr>
          <p:cNvPr id="9" name="Double Bracket 8"/>
          <p:cNvSpPr/>
          <p:nvPr/>
        </p:nvSpPr>
        <p:spPr>
          <a:xfrm>
            <a:off x="9368155" y="2373630"/>
            <a:ext cx="2404110" cy="387985"/>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GB"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8"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par>
                                <p:cTn id="8" presetID="22" presetClass="entr" presetSubtype="4" fill="hold" grpId="8"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wipe(down)">
                                      <p:cBhvr>
                                        <p:cTn id="10" dur="500"/>
                                        <p:tgtEl>
                                          <p:spTgt spid="101"/>
                                        </p:tgtEl>
                                      </p:cBhvr>
                                    </p:animEffect>
                                  </p:childTnLst>
                                </p:cTn>
                              </p:par>
                              <p:par>
                                <p:cTn id="11" presetID="22" presetClass="entr" presetSubtype="4" fill="hold" grpId="8"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wipe(down)">
                                      <p:cBhvr>
                                        <p:cTn id="13" dur="500"/>
                                        <p:tgtEl>
                                          <p:spTgt spid="103"/>
                                        </p:tgtEl>
                                      </p:cBhvr>
                                    </p:animEffect>
                                  </p:childTnLst>
                                </p:cTn>
                              </p:par>
                              <p:par>
                                <p:cTn id="14" presetID="22" presetClass="entr" presetSubtype="4" fill="hold" grpId="8"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wipe(down)">
                                      <p:cBhvr>
                                        <p:cTn id="16" dur="500"/>
                                        <p:tgtEl>
                                          <p:spTgt spid="10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6" grpId="1"/>
      <p:bldP spid="46" grpId="2"/>
      <p:bldP spid="46" grpId="3"/>
      <p:bldP spid="46" grpId="4"/>
      <p:bldP spid="46" grpId="5"/>
      <p:bldP spid="46" grpId="6"/>
      <p:bldP spid="46" grpId="7"/>
      <p:bldP spid="46" grpId="8"/>
      <p:bldP spid="101" grpId="0" animBg="1"/>
      <p:bldP spid="101" grpId="1" animBg="1"/>
      <p:bldP spid="101" grpId="2" animBg="1"/>
      <p:bldP spid="101" grpId="3" animBg="1"/>
      <p:bldP spid="101" grpId="4" animBg="1"/>
      <p:bldP spid="101" grpId="5" animBg="1"/>
      <p:bldP spid="101" grpId="6" animBg="1"/>
      <p:bldP spid="101" grpId="7" animBg="1"/>
      <p:bldP spid="101" grpId="8" animBg="1"/>
      <p:bldP spid="102" grpId="0" animBg="1"/>
      <p:bldP spid="102" grpId="1" animBg="1"/>
      <p:bldP spid="102" grpId="2" animBg="1"/>
      <p:bldP spid="102" grpId="3" animBg="1"/>
      <p:bldP spid="102" grpId="4" animBg="1"/>
      <p:bldP spid="102" grpId="5" animBg="1"/>
      <p:bldP spid="102" grpId="6" animBg="1"/>
      <p:bldP spid="102" grpId="7" animBg="1"/>
      <p:bldP spid="102" grpId="8" animBg="1"/>
      <p:bldP spid="103" grpId="0"/>
      <p:bldP spid="103" grpId="1"/>
      <p:bldP spid="103" grpId="2"/>
      <p:bldP spid="103" grpId="3"/>
      <p:bldP spid="103" grpId="4"/>
      <p:bldP spid="103" grpId="5"/>
      <p:bldP spid="103" grpId="6"/>
      <p:bldP spid="103" grpId="7"/>
      <p:bldP spid="103" grpId="8"/>
      <p:bldP spid="164" grpId="0"/>
      <p:bldP spid="6" grpId="0"/>
      <p:bldP spid="8" grpId="0" bldLvl="0" animBg="1"/>
      <p:bldP spid="9"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14"/>
          <p:cNvSpPr txBox="1"/>
          <p:nvPr/>
        </p:nvSpPr>
        <p:spPr>
          <a:xfrm>
            <a:off x="638175" y="203835"/>
            <a:ext cx="5886450" cy="706755"/>
          </a:xfrm>
          <a:prstGeom prst="rect">
            <a:avLst/>
          </a:prstGeom>
          <a:noFill/>
        </p:spPr>
        <p:txBody>
          <a:bodyPr wrap="square" lIns="91440" tIns="45720" rIns="91440" bIns="45720" rtlCol="0" anchor="t">
            <a:spAutoFit/>
          </a:bodyPr>
          <a:lstStyle/>
          <a:p>
            <a:r>
              <a:rPr lang="en-US" altLang="en-GB" sz="4000" dirty="0">
                <a:latin typeface="+mj-lt"/>
                <a:cs typeface="+mj-lt"/>
              </a:rPr>
              <a:t>R</a:t>
            </a:r>
            <a:r>
              <a:rPr lang="en-GB" altLang="en-US" sz="4000" dirty="0" err="1">
                <a:latin typeface="+mj-lt"/>
                <a:cs typeface="+mj-lt"/>
              </a:rPr>
              <a:t>esults</a:t>
            </a:r>
            <a:endParaRPr lang="en-GB" altLang="en-US" sz="4000" dirty="0" err="1">
              <a:latin typeface="+mj-lt"/>
              <a:cs typeface="+mj-lt"/>
            </a:endParaRPr>
          </a:p>
        </p:txBody>
      </p:sp>
      <p:sp>
        <p:nvSpPr>
          <p:cNvPr id="7" name="Text Box 6"/>
          <p:cNvSpPr txBox="1"/>
          <p:nvPr/>
        </p:nvSpPr>
        <p:spPr>
          <a:xfrm rot="10800000">
            <a:off x="7299960" y="1564005"/>
            <a:ext cx="374650" cy="368300"/>
          </a:xfrm>
          <a:prstGeom prst="rect">
            <a:avLst/>
          </a:prstGeom>
          <a:noFill/>
        </p:spPr>
        <p:txBody>
          <a:bodyPr wrap="none" rtlCol="0" anchor="t">
            <a:spAutoFit/>
          </a:bodyPr>
          <a:lstStyle/>
          <a:p>
            <a:r>
              <a:rPr lang="en-GB" altLang="en-US">
                <a:latin typeface="东文宋体" charset="0"/>
                <a:cs typeface="东文宋体" charset="0"/>
              </a:rPr>
              <a:t>↑</a:t>
            </a:r>
            <a:endParaRPr lang="en-GB" altLang="en-US">
              <a:latin typeface="东文宋体" charset="0"/>
              <a:cs typeface="东文宋体" charset="0"/>
            </a:endParaRPr>
          </a:p>
        </p:txBody>
      </p:sp>
      <p:sp>
        <p:nvSpPr>
          <p:cNvPr id="10" name="Text Box 9"/>
          <p:cNvSpPr txBox="1"/>
          <p:nvPr/>
        </p:nvSpPr>
        <p:spPr>
          <a:xfrm>
            <a:off x="3484245" y="1311910"/>
            <a:ext cx="8006080" cy="368300"/>
          </a:xfrm>
          <a:prstGeom prst="rect">
            <a:avLst/>
          </a:prstGeom>
          <a:noFill/>
        </p:spPr>
        <p:txBody>
          <a:bodyPr wrap="square" rtlCol="0" anchor="t">
            <a:spAutoFit/>
          </a:bodyPr>
          <a:lstStyle/>
          <a:p>
            <a:r>
              <a:rPr lang="en-US"/>
              <a:t>Start from the </a:t>
            </a:r>
            <a:r>
              <a:rPr lang="en-US" altLang="en-US"/>
              <a:t>equilibrium</a:t>
            </a:r>
            <a:r>
              <a:rPr lang="en-US"/>
              <a:t> state of two parental communities</a:t>
            </a:r>
            <a:endParaRPr lang="en-US"/>
          </a:p>
        </p:txBody>
      </p:sp>
      <p:sp>
        <p:nvSpPr>
          <p:cNvPr id="19" name="Text Box 18"/>
          <p:cNvSpPr txBox="1"/>
          <p:nvPr/>
        </p:nvSpPr>
        <p:spPr>
          <a:xfrm>
            <a:off x="1598757" y="5954667"/>
            <a:ext cx="9003748" cy="830997"/>
          </a:xfrm>
          <a:prstGeom prst="rect">
            <a:avLst/>
          </a:prstGeom>
          <a:noFill/>
        </p:spPr>
        <p:txBody>
          <a:bodyPr wrap="square" lIns="91440" tIns="45720" rIns="91440" bIns="45720" rtlCol="0" anchor="t">
            <a:spAutoFit/>
          </a:bodyPr>
          <a:lstStyle/>
          <a:p>
            <a:r>
              <a:rPr altLang="en-US" sz="1600" b="1" dirty="0"/>
              <a:t>Figure 1. Consumer abundance dynamics during community assembly and coalescence.</a:t>
            </a:r>
            <a:r>
              <a:rPr altLang="en-US" sz="1600" dirty="0"/>
              <a:t> Panels for Community 1 and Community 2 show the assembly processes, while Community 3 illustrates the dynamics during coalescence.</a:t>
            </a:r>
            <a:endParaRPr altLang="en-US" sz="1600" dirty="0"/>
          </a:p>
        </p:txBody>
      </p:sp>
      <p:pic>
        <p:nvPicPr>
          <p:cNvPr id="4" name="Picture 3" descr="abun_dynamics"/>
          <p:cNvPicPr>
            <a:picLocks noChangeAspect="1"/>
          </p:cNvPicPr>
          <p:nvPr/>
        </p:nvPicPr>
        <p:blipFill>
          <a:blip r:embed="rId1"/>
          <a:stretch>
            <a:fillRect/>
          </a:stretch>
        </p:blipFill>
        <p:spPr>
          <a:xfrm>
            <a:off x="1403985" y="1932305"/>
            <a:ext cx="8788400" cy="38055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14"/>
          <p:cNvSpPr txBox="1"/>
          <p:nvPr/>
        </p:nvSpPr>
        <p:spPr>
          <a:xfrm>
            <a:off x="638175" y="203835"/>
            <a:ext cx="8111490" cy="583565"/>
          </a:xfrm>
          <a:prstGeom prst="rect">
            <a:avLst/>
          </a:prstGeom>
          <a:noFill/>
        </p:spPr>
        <p:txBody>
          <a:bodyPr wrap="square" rtlCol="0" anchor="t">
            <a:spAutoFit/>
          </a:bodyPr>
          <a:lstStyle/>
          <a:p>
            <a:r>
              <a:rPr lang="en-US" sz="3200">
                <a:latin typeface="+mj-lt"/>
                <a:cs typeface="+mj-lt"/>
              </a:rPr>
              <a:t>Community CUE and dominance</a:t>
            </a:r>
            <a:endParaRPr lang="en-US" sz="3200">
              <a:latin typeface="+mj-lt"/>
              <a:cs typeface="+mj-lt"/>
            </a:endParaRPr>
          </a:p>
        </p:txBody>
      </p:sp>
      <p:sp>
        <p:nvSpPr>
          <p:cNvPr id="5" name="Text Box 4"/>
          <p:cNvSpPr txBox="1"/>
          <p:nvPr/>
        </p:nvSpPr>
        <p:spPr>
          <a:xfrm>
            <a:off x="783590" y="5514530"/>
            <a:ext cx="11135120" cy="1169551"/>
          </a:xfrm>
          <a:prstGeom prst="rect">
            <a:avLst/>
          </a:prstGeom>
          <a:noFill/>
        </p:spPr>
        <p:txBody>
          <a:bodyPr wrap="square" lIns="91440" tIns="45720" rIns="91440" bIns="45720" rtlCol="0" anchor="t">
            <a:spAutoFit/>
          </a:bodyPr>
          <a:lstStyle/>
          <a:p>
            <a:r>
              <a:rPr lang="en-US" b="1" dirty="0">
                <a:latin typeface="Calibri"/>
                <a:ea typeface="Calibri"/>
                <a:cs typeface="Calibri"/>
              </a:rPr>
              <a:t>Figure 2. </a:t>
            </a:r>
            <a:r>
              <a:rPr lang="en-US" b="1" dirty="0">
                <a:ea typeface="+mn-lt"/>
                <a:cs typeface="+mn-lt"/>
              </a:rPr>
              <a:t>(a) Dominance as a function of community CUE. </a:t>
            </a:r>
            <a:r>
              <a:rPr lang="en-US" dirty="0">
                <a:ea typeface="+mn-lt"/>
                <a:cs typeface="+mn-lt"/>
              </a:rPr>
              <a:t>Community with higher CUE will be more dominant in the descendent community. </a:t>
            </a:r>
            <a:r>
              <a:rPr lang="en-US" b="1" dirty="0">
                <a:ea typeface="+mn-lt"/>
                <a:cs typeface="+mn-lt"/>
              </a:rPr>
              <a:t>(b) Similarity between parent and offspring communities.</a:t>
            </a:r>
            <a:r>
              <a:rPr lang="en-US" sz="1600" dirty="0">
                <a:ea typeface="+mn-lt"/>
                <a:cs typeface="+mn-lt"/>
              </a:rPr>
              <a:t> Community with higher CUE influence more on descendant community structure</a:t>
            </a:r>
            <a:endParaRPr lang="en-US" sz="1600" dirty="0">
              <a:ea typeface="+mn-lt"/>
              <a:cs typeface="+mn-lt"/>
            </a:endParaRPr>
          </a:p>
          <a:p>
            <a:endParaRPr lang="en-US" b="1" dirty="0">
              <a:ea typeface="Calibri"/>
              <a:cs typeface="Calibri"/>
            </a:endParaRPr>
          </a:p>
        </p:txBody>
      </p:sp>
      <p:sp>
        <p:nvSpPr>
          <p:cNvPr id="4" name="文本框 3"/>
          <p:cNvSpPr txBox="1"/>
          <p:nvPr/>
        </p:nvSpPr>
        <p:spPr>
          <a:xfrm>
            <a:off x="783465" y="5333999"/>
            <a:ext cx="10528478" cy="81566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zh-CN" altLang="en-US"/>
          </a:p>
        </p:txBody>
      </p:sp>
      <p:pic>
        <p:nvPicPr>
          <p:cNvPr id="3" name="Picture 2" descr="dom_sim"/>
          <p:cNvPicPr>
            <a:picLocks noChangeAspect="1"/>
          </p:cNvPicPr>
          <p:nvPr/>
        </p:nvPicPr>
        <p:blipFill>
          <a:blip r:embed="rId1"/>
          <a:stretch>
            <a:fillRect/>
          </a:stretch>
        </p:blipFill>
        <p:spPr>
          <a:xfrm>
            <a:off x="1563370" y="995045"/>
            <a:ext cx="8208010" cy="4689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18"/>
          <p:cNvSpPr txBox="1"/>
          <p:nvPr/>
        </p:nvSpPr>
        <p:spPr>
          <a:xfrm>
            <a:off x="510270" y="1586653"/>
            <a:ext cx="4960886" cy="3415030"/>
          </a:xfrm>
          <a:prstGeom prst="rect">
            <a:avLst/>
          </a:prstGeom>
          <a:noFill/>
        </p:spPr>
        <p:txBody>
          <a:bodyPr wrap="square" lIns="91440" tIns="45720" rIns="91440" bIns="45720" rtlCol="0" anchor="t">
            <a:spAutoFit/>
          </a:bodyPr>
          <a:lstStyle/>
          <a:p>
            <a:pPr>
              <a:lnSpc>
                <a:spcPct val="150000"/>
              </a:lnSpc>
            </a:pPr>
            <a:r>
              <a:rPr b="1"/>
              <a:t>Figure </a:t>
            </a:r>
            <a:r>
              <a:rPr lang="en-US" b="1"/>
              <a:t>3</a:t>
            </a:r>
            <a:r>
              <a:rPr b="1"/>
              <a:t>.</a:t>
            </a:r>
            <a:r>
              <a:rPr lang="zh-CN" b="1" dirty="0">
                <a:ea typeface="SimSun"/>
              </a:rPr>
              <a:t> </a:t>
            </a:r>
            <a:r>
              <a:rPr lang="en-US" b="1" dirty="0"/>
              <a:t>CUE-</a:t>
            </a:r>
            <a:r>
              <a:rPr lang="en-US" b="1" dirty="0" err="1"/>
              <a:t>abundance</a:t>
            </a:r>
            <a:r>
              <a:rPr lang="en-US" altLang="zh-CN" b="1" dirty="0">
                <a:ea typeface="SimSun"/>
              </a:rPr>
              <a:t> </a:t>
            </a:r>
            <a:r>
              <a:rPr lang="en-US" altLang="zh-CN" b="1" dirty="0" err="1">
                <a:ea typeface="SimSun"/>
              </a:rPr>
              <a:t>relationship</a:t>
            </a:r>
            <a:r>
              <a:rPr lang="en-US" altLang="zh-CN" b="1" dirty="0">
                <a:ea typeface="SimSun"/>
              </a:rPr>
              <a:t> </a:t>
            </a:r>
            <a:r>
              <a:rPr lang="en-US" altLang="zh-CN" b="1" dirty="0" err="1">
                <a:ea typeface="SimSun"/>
              </a:rPr>
              <a:t>and</a:t>
            </a:r>
            <a:r>
              <a:rPr lang="en-US" altLang="zh-CN" b="1" dirty="0">
                <a:ea typeface="SimSun"/>
              </a:rPr>
              <a:t> </a:t>
            </a:r>
            <a:r>
              <a:rPr lang="en-US" b="1"/>
              <a:t>Species abundance distribution</a:t>
            </a:r>
            <a:r>
              <a:rPr b="1"/>
              <a:t>. </a:t>
            </a:r>
            <a:r>
              <a:rPr lang="en-US" dirty="0"/>
              <a:t>In</a:t>
            </a:r>
            <a:r>
              <a:rPr lang="en-US" dirty="0">
                <a:ea typeface="Calibri"/>
              </a:rPr>
              <a:t> </a:t>
            </a:r>
            <a:r>
              <a:rPr lang="en-US" dirty="0" err="1"/>
              <a:t>species</a:t>
            </a:r>
            <a:r>
              <a:rPr lang="en-US" dirty="0"/>
              <a:t> </a:t>
            </a:r>
            <a:r>
              <a:rPr lang="en-US" dirty="0" err="1"/>
              <a:t>level</a:t>
            </a:r>
            <a:r>
              <a:rPr lang="en-US" dirty="0"/>
              <a:t>, </a:t>
            </a:r>
            <a:r>
              <a:rPr lang="en-US" dirty="0" err="1"/>
              <a:t>higher</a:t>
            </a:r>
            <a:r>
              <a:rPr lang="en-US" dirty="0"/>
              <a:t> CUE </a:t>
            </a:r>
            <a:r>
              <a:rPr lang="en-US" dirty="0" err="1"/>
              <a:t>species</a:t>
            </a:r>
            <a:r>
              <a:rPr lang="en-US" dirty="0"/>
              <a:t> </a:t>
            </a:r>
            <a:r>
              <a:rPr lang="en-US" dirty="0" err="1"/>
              <a:t>achieve</a:t>
            </a:r>
            <a:r>
              <a:rPr lang="en-US" dirty="0"/>
              <a:t> </a:t>
            </a:r>
            <a:r>
              <a:rPr lang="en-US" dirty="0" err="1"/>
              <a:t>higher</a:t>
            </a:r>
            <a:r>
              <a:rPr lang="en-US" dirty="0"/>
              <a:t> </a:t>
            </a:r>
            <a:r>
              <a:rPr lang="en-US" dirty="0" err="1"/>
              <a:t>abundance</a:t>
            </a:r>
            <a:r>
              <a:rPr lang="en-US" dirty="0"/>
              <a:t>, </a:t>
            </a:r>
            <a:r>
              <a:rPr lang="en-US" dirty="0" err="1"/>
              <a:t>with</a:t>
            </a:r>
            <a:r>
              <a:rPr lang="en-US" dirty="0"/>
              <a:t> a </a:t>
            </a:r>
            <a:r>
              <a:rPr lang="en-US" dirty="0" err="1"/>
              <a:t>certain</a:t>
            </a:r>
            <a:r>
              <a:rPr lang="en-US" dirty="0"/>
              <a:t> </a:t>
            </a:r>
            <a:r>
              <a:rPr lang="en-US" dirty="0" err="1"/>
              <a:t>ceilling</a:t>
            </a:r>
            <a:r>
              <a:rPr lang="en-US" dirty="0"/>
              <a:t>. </a:t>
            </a:r>
            <a:r>
              <a:rPr dirty="0"/>
              <a:t>Community 3 exhibits a longer left </a:t>
            </a:r>
            <a:r>
              <a:rPr lang="en-US" dirty="0"/>
              <a:t>shape</a:t>
            </a:r>
            <a:r>
              <a:rPr dirty="0"/>
              <a:t>, indicating a greater presence of rare species </a:t>
            </a:r>
            <a:r>
              <a:rPr lang="en-US" dirty="0"/>
              <a:t>after</a:t>
            </a:r>
            <a:r>
              <a:rPr dirty="0"/>
              <a:t> coalescence.</a:t>
            </a:r>
            <a:endParaRPr lang="zh-CN" altLang="en-US"/>
          </a:p>
        </p:txBody>
      </p:sp>
      <p:sp>
        <p:nvSpPr>
          <p:cNvPr id="20" name="Title 19"/>
          <p:cNvSpPr>
            <a:spLocks noGrp="1"/>
          </p:cNvSpPr>
          <p:nvPr>
            <p:ph type="title"/>
          </p:nvPr>
        </p:nvSpPr>
        <p:spPr>
          <a:xfrm>
            <a:off x="510540" y="344170"/>
            <a:ext cx="9749155" cy="920750"/>
          </a:xfrm>
          <a:prstGeom prst="flowChartDelay">
            <a:avLst/>
          </a:prstGeom>
        </p:spPr>
        <p:txBody>
          <a:bodyPr>
            <a:normAutofit/>
          </a:bodyPr>
          <a:lstStyle/>
          <a:p>
            <a:r>
              <a:rPr lang="en-US" sz="3200" dirty="0">
                <a:ea typeface="+mj-lt"/>
                <a:cs typeface="+mj-lt"/>
              </a:rPr>
              <a:t>Species-level explanation</a:t>
            </a:r>
            <a:endParaRPr lang="zh-CN" altLang="en-US" dirty="0"/>
          </a:p>
        </p:txBody>
      </p:sp>
      <p:sp>
        <p:nvSpPr>
          <p:cNvPr id="21" name="Text Box 20"/>
          <p:cNvSpPr txBox="1"/>
          <p:nvPr/>
        </p:nvSpPr>
        <p:spPr>
          <a:xfrm>
            <a:off x="579813" y="996200"/>
            <a:ext cx="4315460" cy="368300"/>
          </a:xfrm>
          <a:prstGeom prst="rect">
            <a:avLst/>
          </a:prstGeom>
          <a:noFill/>
        </p:spPr>
        <p:txBody>
          <a:bodyPr wrap="none" rtlCol="0" anchor="t">
            <a:spAutoFit/>
          </a:bodyPr>
          <a:lstStyle/>
          <a:p>
            <a:pPr algn="l"/>
            <a:r>
              <a:rPr lang="en-US">
                <a:sym typeface="+mn-ea"/>
              </a:rPr>
              <a:t>Coalescence was repeated 50 times</a:t>
            </a:r>
            <a:endParaRPr lang="en-GB" altLang="en-US"/>
          </a:p>
        </p:txBody>
      </p:sp>
      <p:pic>
        <p:nvPicPr>
          <p:cNvPr id="2" name="Picture 1" descr="cue_abund"/>
          <p:cNvPicPr>
            <a:picLocks noChangeAspect="1"/>
          </p:cNvPicPr>
          <p:nvPr/>
        </p:nvPicPr>
        <p:blipFill>
          <a:blip r:embed="rId1"/>
          <a:stretch>
            <a:fillRect/>
          </a:stretch>
        </p:blipFill>
        <p:spPr>
          <a:xfrm>
            <a:off x="5737225" y="56515"/>
            <a:ext cx="5982335" cy="6837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9"/>
          <p:cNvSpPr>
            <a:spLocks noGrp="1"/>
          </p:cNvSpPr>
          <p:nvPr>
            <p:ph type="title"/>
          </p:nvPr>
        </p:nvSpPr>
        <p:spPr>
          <a:xfrm>
            <a:off x="510540" y="344170"/>
            <a:ext cx="9749155" cy="920750"/>
          </a:xfrm>
          <a:prstGeom prst="flowChartDelay">
            <a:avLst/>
          </a:prstGeom>
        </p:spPr>
        <p:txBody>
          <a:bodyPr>
            <a:normAutofit fontScale="90000"/>
          </a:bodyPr>
          <a:lstStyle/>
          <a:p>
            <a:r>
              <a:rPr lang="en-US" altLang="en-US" sz="3200" dirty="0">
                <a:ea typeface="Calibri Light"/>
                <a:cs typeface="Calibri Light"/>
              </a:rPr>
              <a:t>Species CUE distribution after assembly/coalescence</a:t>
            </a:r>
            <a:endParaRPr lang="en-US" altLang="en-US" sz="3200" dirty="0"/>
          </a:p>
        </p:txBody>
      </p:sp>
      <p:sp>
        <p:nvSpPr>
          <p:cNvPr id="10" name="Text Box 18"/>
          <p:cNvSpPr txBox="1"/>
          <p:nvPr/>
        </p:nvSpPr>
        <p:spPr>
          <a:xfrm>
            <a:off x="888400" y="5866046"/>
            <a:ext cx="9375892" cy="584775"/>
          </a:xfrm>
          <a:prstGeom prst="rect">
            <a:avLst/>
          </a:prstGeom>
          <a:noFill/>
        </p:spPr>
        <p:txBody>
          <a:bodyPr wrap="square" lIns="91440" tIns="45720" rIns="91440" bIns="45720" rtlCol="0" anchor="t">
            <a:spAutoFit/>
          </a:bodyPr>
          <a:lstStyle/>
          <a:p>
            <a:r>
              <a:rPr sz="1600" b="1"/>
              <a:t>Figure </a:t>
            </a:r>
            <a:r>
              <a:rPr lang="en-US" sz="1600" b="1" dirty="0"/>
              <a:t>4</a:t>
            </a:r>
            <a:r>
              <a:rPr sz="1600" b="1" dirty="0"/>
              <a:t>. </a:t>
            </a:r>
            <a:r>
              <a:rPr lang="en-US" sz="1600" b="1" dirty="0">
                <a:ea typeface="Calibri"/>
                <a:cs typeface="Calibri"/>
              </a:rPr>
              <a:t>CUE of survival and extinct species in each communities. </a:t>
            </a:r>
            <a:r>
              <a:rPr lang="en-US" sz="1600" dirty="0">
                <a:ea typeface="Calibri"/>
                <a:cs typeface="Calibri"/>
              </a:rPr>
              <a:t>The increase of CUE in community 3 (blue) is because of the survival boundary levels up.</a:t>
            </a:r>
            <a:endParaRPr lang="zh-CN" altLang="en-US"/>
          </a:p>
        </p:txBody>
      </p:sp>
      <p:pic>
        <p:nvPicPr>
          <p:cNvPr id="2" name="Picture 1" descr="survival_boxplot"/>
          <p:cNvPicPr>
            <a:picLocks noChangeAspect="1"/>
          </p:cNvPicPr>
          <p:nvPr/>
        </p:nvPicPr>
        <p:blipFill>
          <a:blip r:embed="rId1"/>
          <a:stretch>
            <a:fillRect/>
          </a:stretch>
        </p:blipFill>
        <p:spPr>
          <a:xfrm>
            <a:off x="1275080" y="1264920"/>
            <a:ext cx="9641205" cy="45853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8"/>
          <p:cNvSpPr txBox="1"/>
          <p:nvPr/>
        </p:nvSpPr>
        <p:spPr>
          <a:xfrm>
            <a:off x="2863954" y="5602639"/>
            <a:ext cx="7485004" cy="830997"/>
          </a:xfrm>
          <a:prstGeom prst="rect">
            <a:avLst/>
          </a:prstGeom>
          <a:noFill/>
        </p:spPr>
        <p:txBody>
          <a:bodyPr wrap="square" lIns="91440" tIns="45720" rIns="91440" bIns="45720" rtlCol="0" anchor="t">
            <a:spAutoFit/>
          </a:bodyPr>
          <a:lstStyle/>
          <a:p>
            <a:r>
              <a:rPr sz="1600" b="1" dirty="0"/>
              <a:t>Figure </a:t>
            </a:r>
            <a:r>
              <a:rPr lang="en-US" sz="1600" b="1" dirty="0"/>
              <a:t>5</a:t>
            </a:r>
            <a:r>
              <a:rPr sz="1600" b="1" dirty="0"/>
              <a:t>.</a:t>
            </a:r>
            <a:r>
              <a:rPr lang="zh-CN" sz="1600" b="1" dirty="0">
                <a:ea typeface="SimSun"/>
              </a:rPr>
              <a:t> </a:t>
            </a:r>
            <a:r>
              <a:rPr lang="en-US" sz="1600" b="1" dirty="0"/>
              <a:t>Community</a:t>
            </a:r>
            <a:r>
              <a:rPr sz="1600" b="1" dirty="0"/>
              <a:t> </a:t>
            </a:r>
            <a:r>
              <a:rPr lang="en-US" sz="1600" b="1" dirty="0"/>
              <a:t>CUE as a </a:t>
            </a:r>
            <a:r>
              <a:rPr lang="en-US" sz="1600" b="1" dirty="0" err="1"/>
              <a:t>function</a:t>
            </a:r>
            <a:r>
              <a:rPr lang="en-US" sz="1600" b="1" dirty="0"/>
              <a:t> of </a:t>
            </a:r>
            <a:r>
              <a:rPr lang="en-US" sz="1600" b="1" dirty="0" err="1"/>
              <a:t>niche</a:t>
            </a:r>
            <a:r>
              <a:rPr lang="en-US" sz="1600" b="1" dirty="0"/>
              <a:t> </a:t>
            </a:r>
            <a:r>
              <a:rPr lang="en-US" sz="1600" b="1" dirty="0" err="1"/>
              <a:t>overlap</a:t>
            </a:r>
            <a:r>
              <a:rPr lang="en-US" sz="1600" b="1" dirty="0"/>
              <a:t>. </a:t>
            </a:r>
            <a:r>
              <a:rPr lang="en-US" sz="1600" dirty="0" err="1"/>
              <a:t>There</a:t>
            </a:r>
            <a:r>
              <a:rPr lang="en-US" sz="1600" dirty="0"/>
              <a:t> is a </a:t>
            </a:r>
            <a:r>
              <a:rPr lang="en-US" sz="1600" dirty="0" err="1"/>
              <a:t>significant</a:t>
            </a:r>
            <a:r>
              <a:rPr lang="en-US" sz="1600" dirty="0"/>
              <a:t> </a:t>
            </a:r>
            <a:r>
              <a:rPr lang="en-US" sz="1600" dirty="0" err="1"/>
              <a:t>positive</a:t>
            </a:r>
            <a:r>
              <a:rPr lang="en-US" sz="1600" dirty="0"/>
              <a:t> </a:t>
            </a:r>
            <a:r>
              <a:rPr lang="en-US" sz="1600" dirty="0" err="1"/>
              <a:t>relationship</a:t>
            </a:r>
            <a:r>
              <a:rPr lang="en-US" sz="1600" dirty="0"/>
              <a:t> </a:t>
            </a:r>
            <a:r>
              <a:rPr lang="en-US" sz="1600" dirty="0" err="1"/>
              <a:t>across</a:t>
            </a:r>
            <a:r>
              <a:rPr lang="en-US" sz="1600" dirty="0"/>
              <a:t> </a:t>
            </a:r>
            <a:r>
              <a:rPr lang="en-US" sz="1600" dirty="0" err="1"/>
              <a:t>all</a:t>
            </a:r>
            <a:r>
              <a:rPr lang="en-US" sz="1600" dirty="0"/>
              <a:t> </a:t>
            </a:r>
            <a:r>
              <a:rPr lang="en-US" sz="1600" dirty="0" err="1"/>
              <a:t>three</a:t>
            </a:r>
            <a:r>
              <a:rPr lang="en-US" sz="1600" dirty="0"/>
              <a:t> </a:t>
            </a:r>
            <a:r>
              <a:rPr lang="en-US" sz="1600" dirty="0" err="1"/>
              <a:t>communities</a:t>
            </a:r>
            <a:r>
              <a:rPr lang="en-US" sz="1600" dirty="0"/>
              <a:t>, </a:t>
            </a:r>
            <a:r>
              <a:rPr lang="en-US" sz="1600" dirty="0" err="1"/>
              <a:t>suggesting</a:t>
            </a:r>
            <a:r>
              <a:rPr lang="en-US" sz="1600" dirty="0"/>
              <a:t> </a:t>
            </a:r>
            <a:r>
              <a:rPr lang="en-US" sz="1600" dirty="0" err="1">
                <a:ea typeface="+mn-lt"/>
                <a:cs typeface="+mn-lt"/>
              </a:rPr>
              <a:t>high</a:t>
            </a:r>
            <a:r>
              <a:rPr lang="en-US" sz="1600" dirty="0">
                <a:ea typeface="+mn-lt"/>
                <a:cs typeface="+mn-lt"/>
              </a:rPr>
              <a:t> </a:t>
            </a:r>
            <a:r>
              <a:rPr lang="en-US" sz="1600" dirty="0" err="1">
                <a:ea typeface="+mn-lt"/>
                <a:cs typeface="+mn-lt"/>
              </a:rPr>
              <a:t>overlap</a:t>
            </a:r>
            <a:r>
              <a:rPr lang="en-US" sz="1600" dirty="0">
                <a:ea typeface="+mn-lt"/>
                <a:cs typeface="+mn-lt"/>
              </a:rPr>
              <a:t> in </a:t>
            </a:r>
            <a:r>
              <a:rPr lang="en-US" sz="1600" dirty="0" err="1">
                <a:ea typeface="+mn-lt"/>
                <a:cs typeface="+mn-lt"/>
              </a:rPr>
              <a:t>resource</a:t>
            </a:r>
            <a:r>
              <a:rPr lang="en-US" sz="1600" dirty="0">
                <a:ea typeface="+mn-lt"/>
                <a:cs typeface="+mn-lt"/>
              </a:rPr>
              <a:t> </a:t>
            </a:r>
            <a:r>
              <a:rPr lang="en-US" sz="1600" dirty="0" err="1">
                <a:ea typeface="+mn-lt"/>
                <a:cs typeface="+mn-lt"/>
              </a:rPr>
              <a:t>usage</a:t>
            </a:r>
            <a:r>
              <a:rPr lang="en-US" sz="1600" dirty="0">
                <a:ea typeface="+mn-lt"/>
                <a:cs typeface="+mn-lt"/>
              </a:rPr>
              <a:t> </a:t>
            </a:r>
            <a:r>
              <a:rPr lang="en-US" sz="1600" dirty="0" err="1">
                <a:ea typeface="+mn-lt"/>
                <a:cs typeface="+mn-lt"/>
              </a:rPr>
              <a:t>promotes</a:t>
            </a:r>
            <a:r>
              <a:rPr lang="en-US" sz="1600" dirty="0">
                <a:ea typeface="+mn-lt"/>
                <a:cs typeface="+mn-lt"/>
              </a:rPr>
              <a:t> </a:t>
            </a:r>
            <a:r>
              <a:rPr lang="en-US" sz="1600" dirty="0" err="1">
                <a:ea typeface="+mn-lt"/>
                <a:cs typeface="+mn-lt"/>
              </a:rPr>
              <a:t>higher</a:t>
            </a:r>
            <a:r>
              <a:rPr lang="en-US" sz="1600" dirty="0">
                <a:ea typeface="+mn-lt"/>
                <a:cs typeface="+mn-lt"/>
              </a:rPr>
              <a:t> </a:t>
            </a:r>
            <a:r>
              <a:rPr lang="en-US" sz="1600" dirty="0" err="1">
                <a:ea typeface="+mn-lt"/>
                <a:cs typeface="+mn-lt"/>
              </a:rPr>
              <a:t>Carbon</a:t>
            </a:r>
            <a:r>
              <a:rPr lang="en-US" sz="1600" dirty="0">
                <a:ea typeface="+mn-lt"/>
                <a:cs typeface="+mn-lt"/>
              </a:rPr>
              <a:t> </a:t>
            </a:r>
            <a:r>
              <a:rPr lang="en-US" sz="1600" dirty="0" err="1">
                <a:ea typeface="+mn-lt"/>
                <a:cs typeface="+mn-lt"/>
              </a:rPr>
              <a:t>usage</a:t>
            </a:r>
            <a:r>
              <a:rPr lang="en-US" sz="1600" dirty="0">
                <a:ea typeface="+mn-lt"/>
                <a:cs typeface="+mn-lt"/>
              </a:rPr>
              <a:t> </a:t>
            </a:r>
            <a:r>
              <a:rPr lang="en-US" sz="1600" dirty="0" err="1">
                <a:ea typeface="+mn-lt"/>
                <a:cs typeface="+mn-lt"/>
              </a:rPr>
              <a:t>efficiency</a:t>
            </a:r>
            <a:r>
              <a:rPr lang="en-US" sz="1600" dirty="0">
                <a:ea typeface="+mn-lt"/>
                <a:cs typeface="+mn-lt"/>
              </a:rPr>
              <a:t>.</a:t>
            </a:r>
            <a:endParaRPr lang="en-US" sz="1600" dirty="0" err="1">
              <a:ea typeface="Calibri"/>
              <a:cs typeface="Calibri"/>
            </a:endParaRPr>
          </a:p>
        </p:txBody>
      </p:sp>
      <p:sp>
        <p:nvSpPr>
          <p:cNvPr id="5" name="Title 19"/>
          <p:cNvSpPr>
            <a:spLocks noGrp="1"/>
          </p:cNvSpPr>
          <p:nvPr>
            <p:ph type="title"/>
          </p:nvPr>
        </p:nvSpPr>
        <p:spPr>
          <a:xfrm>
            <a:off x="510540" y="344170"/>
            <a:ext cx="3154563" cy="920750"/>
          </a:xfrm>
          <a:prstGeom prst="flowChartDelay">
            <a:avLst/>
          </a:prstGeom>
        </p:spPr>
        <p:txBody>
          <a:bodyPr>
            <a:normAutofit/>
          </a:bodyPr>
          <a:lstStyle/>
          <a:p>
            <a:r>
              <a:rPr lang="en-US" altLang="en-US" sz="3200" dirty="0" err="1"/>
              <a:t>Machenism</a:t>
            </a:r>
            <a:endParaRPr lang="en-US" altLang="en-US" sz="3200" dirty="0" err="1"/>
          </a:p>
        </p:txBody>
      </p:sp>
      <p:pic>
        <p:nvPicPr>
          <p:cNvPr id="4" name="图片 3"/>
          <p:cNvPicPr>
            <a:picLocks noChangeAspect="1"/>
          </p:cNvPicPr>
          <p:nvPr/>
        </p:nvPicPr>
        <p:blipFill>
          <a:blip r:embed="rId1"/>
          <a:stretch>
            <a:fillRect/>
          </a:stretch>
        </p:blipFill>
        <p:spPr>
          <a:xfrm>
            <a:off x="592667" y="1526084"/>
            <a:ext cx="3160890" cy="372130"/>
          </a:xfrm>
          <a:prstGeom prst="rect">
            <a:avLst/>
          </a:prstGeom>
        </p:spPr>
      </p:pic>
      <p:sp>
        <p:nvSpPr>
          <p:cNvPr id="9" name="Title 19"/>
          <p:cNvSpPr txBox="1"/>
          <p:nvPr/>
        </p:nvSpPr>
        <p:spPr>
          <a:xfrm>
            <a:off x="512421" y="797607"/>
            <a:ext cx="3154563" cy="920750"/>
          </a:xfrm>
          <a:prstGeom prst="flowChartDelay">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dirty="0"/>
              <a:t>Niche overlap</a:t>
            </a:r>
            <a:endParaRPr lang="en-US" altLang="en-US" sz="2800" dirty="0">
              <a:ea typeface="Calibri Light"/>
              <a:cs typeface="Calibri Light"/>
            </a:endParaRPr>
          </a:p>
        </p:txBody>
      </p:sp>
      <p:pic>
        <p:nvPicPr>
          <p:cNvPr id="3" name="Picture 2" descr="cosine_similarity_vs_communityCUE"/>
          <p:cNvPicPr>
            <a:picLocks noChangeAspect="1"/>
          </p:cNvPicPr>
          <p:nvPr/>
        </p:nvPicPr>
        <p:blipFill>
          <a:blip r:embed="rId2"/>
          <a:stretch>
            <a:fillRect/>
          </a:stretch>
        </p:blipFill>
        <p:spPr>
          <a:xfrm>
            <a:off x="2962910" y="1525905"/>
            <a:ext cx="7559040" cy="43192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
        <p:nvSpPr>
          <p:cNvPr id="3" name="Content Placeholder 2"/>
          <p:cNvSpPr>
            <a:spLocks noGrp="1"/>
          </p:cNvSpPr>
          <p:nvPr>
            <p:ph idx="1"/>
          </p:nvPr>
        </p:nvSpPr>
        <p:spPr/>
        <p:txBody>
          <a:bodyPr/>
          <a:p>
            <a:endParaRPr lang="en-GB" altLang="en-US"/>
          </a:p>
        </p:txBody>
      </p:sp>
      <p:pic>
        <p:nvPicPr>
          <p:cNvPr id="4" name="Picture 3" descr="communityCUE_vs_nicheOverlap_survival"/>
          <p:cNvPicPr>
            <a:picLocks noChangeAspect="1"/>
          </p:cNvPicPr>
          <p:nvPr/>
        </p:nvPicPr>
        <p:blipFill>
          <a:blip r:embed="rId1"/>
          <a:stretch>
            <a:fillRect/>
          </a:stretch>
        </p:blipFill>
        <p:spPr>
          <a:xfrm>
            <a:off x="671195" y="365125"/>
            <a:ext cx="10198735" cy="48571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14"/>
          <p:cNvSpPr txBox="1"/>
          <p:nvPr/>
        </p:nvSpPr>
        <p:spPr>
          <a:xfrm>
            <a:off x="673100" y="203835"/>
            <a:ext cx="7794625" cy="523220"/>
          </a:xfrm>
          <a:prstGeom prst="rect">
            <a:avLst/>
          </a:prstGeom>
          <a:noFill/>
        </p:spPr>
        <p:txBody>
          <a:bodyPr wrap="square" lIns="91440" tIns="45720" rIns="91440" bIns="45720" rtlCol="0" anchor="t">
            <a:spAutoFit/>
          </a:bodyPr>
          <a:lstStyle/>
          <a:p>
            <a:r>
              <a:rPr lang="en-US" sz="2800" dirty="0">
                <a:latin typeface="+mj-lt"/>
                <a:cs typeface="+mj-lt"/>
              </a:rPr>
              <a:t>Species level Interaction and Centrality</a:t>
            </a:r>
            <a:endParaRPr lang="en-US" sz="2800" dirty="0">
              <a:latin typeface="+mj-lt"/>
              <a:cs typeface="+mj-lt"/>
            </a:endParaRPr>
          </a:p>
        </p:txBody>
      </p:sp>
      <p:sp>
        <p:nvSpPr>
          <p:cNvPr id="19" name="Text Box 18"/>
          <p:cNvSpPr txBox="1"/>
          <p:nvPr/>
        </p:nvSpPr>
        <p:spPr>
          <a:xfrm>
            <a:off x="1001559" y="5693967"/>
            <a:ext cx="9438266" cy="954107"/>
          </a:xfrm>
          <a:prstGeom prst="rect">
            <a:avLst/>
          </a:prstGeom>
          <a:noFill/>
        </p:spPr>
        <p:txBody>
          <a:bodyPr wrap="square" lIns="91440" tIns="45720" rIns="91440" bIns="45720" rtlCol="0" anchor="t">
            <a:spAutoFit/>
          </a:bodyPr>
          <a:lstStyle/>
          <a:p>
            <a:r>
              <a:rPr lang="en-US" altLang="en-US" sz="1400" b="1" dirty="0"/>
              <a:t>Figure 6. (a) LOWESS fit of interaction strength as a function of species-level CUE for each community. </a:t>
            </a:r>
            <a:r>
              <a:rPr lang="en-US" altLang="en-US" sz="1400" dirty="0"/>
              <a:t>No clear pattern found in this relationship. </a:t>
            </a:r>
            <a:r>
              <a:rPr lang="en-US" altLang="en-US" sz="1400" b="1" dirty="0"/>
              <a:t>(b) </a:t>
            </a:r>
            <a:r>
              <a:rPr lang="en-GB" sz="1400" b="1" dirty="0"/>
              <a:t>Relationship between species–level CUE and degree centrality across 50 coalescence replicates. </a:t>
            </a:r>
            <a:r>
              <a:rPr lang="en-GB" sz="1400" dirty="0" err="1"/>
              <a:t>Guassian</a:t>
            </a:r>
            <a:r>
              <a:rPr lang="en-GB" sz="1400" dirty="0"/>
              <a:t> fit capture the unimodal relationship, with a similar peak for community 1 and 2.</a:t>
            </a:r>
            <a:endParaRPr lang="en-US" sz="1400" dirty="0"/>
          </a:p>
          <a:p>
            <a:endParaRPr lang="en-US" altLang="en-US" sz="1400" dirty="0">
              <a:ea typeface="Calibri"/>
              <a:cs typeface="Calibri"/>
            </a:endParaRPr>
          </a:p>
        </p:txBody>
      </p:sp>
      <p:pic>
        <p:nvPicPr>
          <p:cNvPr id="2" name="Picture 1" descr="CUE_interaction"/>
          <p:cNvPicPr>
            <a:picLocks noChangeAspect="1"/>
          </p:cNvPicPr>
          <p:nvPr/>
        </p:nvPicPr>
        <p:blipFill>
          <a:blip r:embed="rId1"/>
          <a:stretch>
            <a:fillRect/>
          </a:stretch>
        </p:blipFill>
        <p:spPr>
          <a:xfrm>
            <a:off x="1210945" y="727075"/>
            <a:ext cx="8764270" cy="2595880"/>
          </a:xfrm>
          <a:prstGeom prst="rect">
            <a:avLst/>
          </a:prstGeom>
        </p:spPr>
      </p:pic>
      <p:pic>
        <p:nvPicPr>
          <p:cNvPr id="3" name="Picture 2" descr="CUE_degree"/>
          <p:cNvPicPr>
            <a:picLocks noChangeAspect="1"/>
          </p:cNvPicPr>
          <p:nvPr/>
        </p:nvPicPr>
        <p:blipFill>
          <a:blip r:embed="rId2"/>
          <a:stretch>
            <a:fillRect/>
          </a:stretch>
        </p:blipFill>
        <p:spPr>
          <a:xfrm>
            <a:off x="1312545" y="3322955"/>
            <a:ext cx="8815070" cy="22675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
        <p:nvSpPr>
          <p:cNvPr id="3" name="Content Placeholder 2"/>
          <p:cNvSpPr>
            <a:spLocks noGrp="1"/>
          </p:cNvSpPr>
          <p:nvPr>
            <p:ph idx="1"/>
          </p:nvPr>
        </p:nvSpPr>
        <p:spPr/>
        <p:txBody>
          <a:bodyPr/>
          <a:p>
            <a:endParaRPr lang="en-GB" altLang="en-US"/>
          </a:p>
        </p:txBody>
      </p:sp>
      <p:pic>
        <p:nvPicPr>
          <p:cNvPr id="4" name="Picture 3" descr="survival_dilution"/>
          <p:cNvPicPr>
            <a:picLocks noChangeAspect="1"/>
          </p:cNvPicPr>
          <p:nvPr/>
        </p:nvPicPr>
        <p:blipFill>
          <a:blip r:embed="rId1"/>
          <a:stretch>
            <a:fillRect/>
          </a:stretch>
        </p:blipFill>
        <p:spPr>
          <a:xfrm>
            <a:off x="3891280" y="3282315"/>
            <a:ext cx="5666740" cy="2694940"/>
          </a:xfrm>
          <a:prstGeom prst="rect">
            <a:avLst/>
          </a:prstGeom>
        </p:spPr>
      </p:pic>
      <p:pic>
        <p:nvPicPr>
          <p:cNvPr id="5" name="Picture 4" descr="rare_abundance"/>
          <p:cNvPicPr>
            <a:picLocks noChangeAspect="1"/>
          </p:cNvPicPr>
          <p:nvPr/>
        </p:nvPicPr>
        <p:blipFill>
          <a:blip r:embed="rId2"/>
          <a:stretch>
            <a:fillRect/>
          </a:stretch>
        </p:blipFill>
        <p:spPr>
          <a:xfrm>
            <a:off x="1290955" y="1266825"/>
            <a:ext cx="5666740" cy="26949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示&#10;&#10;AI 生成的内容可能不正确。"/>
          <p:cNvPicPr>
            <a:picLocks noChangeAspect="1"/>
          </p:cNvPicPr>
          <p:nvPr/>
        </p:nvPicPr>
        <p:blipFill>
          <a:blip r:embed="rId1"/>
          <a:srcRect t="23709" r="1486" b="22945"/>
          <a:stretch>
            <a:fillRect/>
          </a:stretch>
        </p:blipFill>
        <p:spPr>
          <a:xfrm>
            <a:off x="178741" y="1461191"/>
            <a:ext cx="6860796" cy="2622733"/>
          </a:xfrm>
          <a:prstGeom prst="rect">
            <a:avLst/>
          </a:prstGeom>
        </p:spPr>
      </p:pic>
      <p:sp>
        <p:nvSpPr>
          <p:cNvPr id="15" name="Text Box 14"/>
          <p:cNvSpPr txBox="1"/>
          <p:nvPr/>
        </p:nvSpPr>
        <p:spPr>
          <a:xfrm>
            <a:off x="638175" y="203835"/>
            <a:ext cx="8111490" cy="583565"/>
          </a:xfrm>
          <a:prstGeom prst="rect">
            <a:avLst/>
          </a:prstGeom>
          <a:noFill/>
        </p:spPr>
        <p:txBody>
          <a:bodyPr wrap="square" rtlCol="0" anchor="t">
            <a:spAutoFit/>
          </a:bodyPr>
          <a:lstStyle/>
          <a:p>
            <a:r>
              <a:rPr lang="en-US" sz="3200">
                <a:latin typeface="+mj-lt"/>
                <a:cs typeface="+mj-lt"/>
              </a:rPr>
              <a:t>Co</a:t>
            </a:r>
            <a:r>
              <a:rPr lang="en-US" altLang="en-US" sz="3200">
                <a:latin typeface="+mj-lt"/>
                <a:cs typeface="+mj-lt"/>
              </a:rPr>
              <a:t>nclusions</a:t>
            </a:r>
            <a:endParaRPr lang="en-US" altLang="en-US" sz="3200">
              <a:latin typeface="+mj-lt"/>
              <a:cs typeface="+mj-lt"/>
            </a:endParaRPr>
          </a:p>
        </p:txBody>
      </p:sp>
      <p:sp>
        <p:nvSpPr>
          <p:cNvPr id="4" name="Text Box 8"/>
          <p:cNvSpPr txBox="1"/>
          <p:nvPr/>
        </p:nvSpPr>
        <p:spPr>
          <a:xfrm>
            <a:off x="7032413" y="882991"/>
            <a:ext cx="4839335" cy="4247317"/>
          </a:xfrm>
          <a:prstGeom prst="rect">
            <a:avLst/>
          </a:prstGeom>
          <a:noFill/>
        </p:spPr>
        <p:txBody>
          <a:bodyPr wrap="square" lIns="91440" tIns="45720" rIns="91440" bIns="45720" rtlCol="0" anchor="t">
            <a:spAutoFit/>
          </a:bodyPr>
          <a:lstStyle/>
          <a:p>
            <a:r>
              <a:rPr lang="en-US" altLang="en-GB" dirty="0"/>
              <a:t>After coalescence</a:t>
            </a:r>
            <a:r>
              <a:rPr lang="en-US" altLang="en-GB" dirty="0">
                <a:sym typeface="+mn-ea"/>
              </a:rPr>
              <a:t>, </a:t>
            </a:r>
            <a:r>
              <a:rPr lang="en-US" dirty="0">
                <a:sym typeface="+mn-ea"/>
              </a:rPr>
              <a:t>Communities with higher overall CUE are more dominant in descendent community</a:t>
            </a:r>
            <a:r>
              <a:rPr dirty="0">
                <a:sym typeface="+mn-ea"/>
              </a:rPr>
              <a:t>.</a:t>
            </a:r>
            <a:endParaRPr lang="en-US" altLang="en-GB" dirty="0">
              <a:ea typeface="Calibri"/>
              <a:cs typeface="Calibri"/>
            </a:endParaRPr>
          </a:p>
          <a:p>
            <a:endParaRPr lang="en-US" dirty="0">
              <a:ea typeface="Calibri"/>
              <a:cs typeface="Calibri"/>
            </a:endParaRPr>
          </a:p>
          <a:p>
            <a:r>
              <a:rPr lang="en-US" dirty="0">
                <a:ea typeface="Calibri"/>
                <a:cs typeface="Calibri"/>
              </a:rPr>
              <a:t>Because in species level, there is a positive correlation between CUE and abundance.</a:t>
            </a:r>
            <a:endParaRPr lang="en-US" dirty="0">
              <a:ea typeface="Calibri"/>
              <a:cs typeface="Calibri"/>
            </a:endParaRPr>
          </a:p>
          <a:p>
            <a:endParaRPr lang="en-US" dirty="0">
              <a:ea typeface="Calibri"/>
              <a:cs typeface="Calibri"/>
            </a:endParaRPr>
          </a:p>
          <a:p>
            <a:r>
              <a:rPr lang="en-US" dirty="0">
                <a:ea typeface="Calibri"/>
                <a:cs typeface="Calibri"/>
              </a:rPr>
              <a:t>The </a:t>
            </a:r>
            <a:r>
              <a:rPr lang="en-US" dirty="0">
                <a:ea typeface="+mn-lt"/>
                <a:cs typeface="+mn-lt"/>
              </a:rPr>
              <a:t>underlying mechanism</a:t>
            </a:r>
            <a:r>
              <a:rPr lang="en-US" dirty="0">
                <a:ea typeface="Calibri"/>
                <a:cs typeface="Calibri"/>
              </a:rPr>
              <a:t> of this is not that clear, since we didn't find the relationship between CUE with net competition and </a:t>
            </a:r>
            <a:r>
              <a:rPr lang="en-US">
                <a:ea typeface="Calibri"/>
                <a:cs typeface="Calibri"/>
              </a:rPr>
              <a:t>community level CUE as expected.</a:t>
            </a:r>
            <a:endParaRPr lang="en-US" dirty="0">
              <a:ea typeface="Calibri"/>
              <a:cs typeface="Calibri"/>
            </a:endParaRPr>
          </a:p>
          <a:p>
            <a:endParaRPr lang="en-US" dirty="0">
              <a:ea typeface="Calibri"/>
              <a:cs typeface="Calibri"/>
            </a:endParaRPr>
          </a:p>
          <a:p>
            <a:r>
              <a:rPr lang="en-US" dirty="0">
                <a:ea typeface="Calibri"/>
                <a:cs typeface="Calibri"/>
              </a:rPr>
              <a:t>There exists unimodal connection between CUE and degree, indicating potential competitive exclusion pattern in our system.</a:t>
            </a:r>
            <a:endParaRPr lang="en-US" dirty="0">
              <a:ea typeface="Calibri"/>
              <a:cs typeface="Calibri"/>
            </a:endParaRPr>
          </a:p>
        </p:txBody>
      </p:sp>
      <p:sp>
        <p:nvSpPr>
          <p:cNvPr id="2" name="文本框 1"/>
          <p:cNvSpPr txBox="1"/>
          <p:nvPr/>
        </p:nvSpPr>
        <p:spPr>
          <a:xfrm>
            <a:off x="280670" y="4083685"/>
            <a:ext cx="6656070" cy="17532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dirty="0">
                <a:latin typeface="Calibri"/>
                <a:ea typeface="SimSun"/>
                <a:cs typeface="Calibri"/>
              </a:rPr>
              <a:t>Next step:</a:t>
            </a:r>
            <a:endParaRPr lang="zh-CN">
              <a:latin typeface="Calibri"/>
              <a:ea typeface="SimSun"/>
              <a:cs typeface="Calibri"/>
            </a:endParaRPr>
          </a:p>
          <a:p>
            <a:pPr marL="342900" indent="-342900">
              <a:buAutoNum type="arabicPeriod"/>
            </a:pPr>
            <a:r>
              <a:rPr lang="en-US" altLang="zh-CN" dirty="0">
                <a:latin typeface="Calibri"/>
                <a:ea typeface="SimSun"/>
                <a:cs typeface="Calibri"/>
              </a:rPr>
              <a:t>Try to explain the positive correlation between community CUE and </a:t>
            </a:r>
            <a:r>
              <a:rPr lang="en-US" altLang="en-US" dirty="0">
                <a:latin typeface="Calibri"/>
                <a:ea typeface="SimSun"/>
                <a:cs typeface="Calibri"/>
              </a:rPr>
              <a:t>niche overlap</a:t>
            </a:r>
            <a:r>
              <a:rPr lang="en-US" altLang="zh-CN" dirty="0">
                <a:latin typeface="Calibri"/>
                <a:ea typeface="SimSun"/>
                <a:cs typeface="Calibri"/>
              </a:rPr>
              <a:t>.</a:t>
            </a:r>
            <a:endParaRPr lang="en-US" altLang="zh-CN" dirty="0">
              <a:latin typeface="Calibri"/>
              <a:ea typeface="SimSun"/>
              <a:cs typeface="Calibri"/>
            </a:endParaRPr>
          </a:p>
          <a:p>
            <a:pPr marL="342900" indent="-342900">
              <a:buAutoNum type="arabicPeriod"/>
            </a:pPr>
            <a:endParaRPr lang="en-US" altLang="zh-CN" dirty="0">
              <a:latin typeface="Calibri"/>
              <a:ea typeface="SimSun"/>
              <a:cs typeface="Calibri"/>
            </a:endParaRPr>
          </a:p>
          <a:p>
            <a:pPr marL="342900" indent="-342900">
              <a:buAutoNum type="arabicPeriod"/>
            </a:pPr>
            <a:r>
              <a:rPr lang="en-US" altLang="zh-CN" dirty="0">
                <a:latin typeface="Calibri"/>
                <a:ea typeface="SimSun"/>
                <a:cs typeface="Calibri"/>
              </a:rPr>
              <a:t>Find more support for the linkage between degree and CUE.</a:t>
            </a:r>
            <a:endParaRPr lang="en-US" altLang="zh-CN" dirty="0">
              <a:latin typeface="Calibri"/>
              <a:ea typeface="SimSun"/>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
        <p:nvSpPr>
          <p:cNvPr id="3" name="Content Placeholder 2"/>
          <p:cNvSpPr>
            <a:spLocks noGrp="1"/>
          </p:cNvSpPr>
          <p:nvPr>
            <p:ph idx="1"/>
          </p:nvPr>
        </p:nvSpPr>
        <p:spPr/>
        <p:txBody>
          <a:bodyPr/>
          <a:p>
            <a:endParaRPr lang="en-GB" altLang="en-US"/>
          </a:p>
        </p:txBody>
      </p:sp>
      <p:pic>
        <p:nvPicPr>
          <p:cNvPr id="4" name="Picture 3" descr="richness"/>
          <p:cNvPicPr>
            <a:picLocks noChangeAspect="1"/>
          </p:cNvPicPr>
          <p:nvPr/>
        </p:nvPicPr>
        <p:blipFill>
          <a:blip r:embed="rId1"/>
          <a:stretch>
            <a:fillRect/>
          </a:stretch>
        </p:blipFill>
        <p:spPr>
          <a:xfrm>
            <a:off x="4528820" y="3333750"/>
            <a:ext cx="5666740" cy="3237865"/>
          </a:xfrm>
          <a:prstGeom prst="rect">
            <a:avLst/>
          </a:prstGeom>
        </p:spPr>
      </p:pic>
      <p:pic>
        <p:nvPicPr>
          <p:cNvPr id="5" name="Picture 4" descr="uptake_variance"/>
          <p:cNvPicPr>
            <a:picLocks noChangeAspect="1"/>
          </p:cNvPicPr>
          <p:nvPr/>
        </p:nvPicPr>
        <p:blipFill>
          <a:blip r:embed="rId2"/>
          <a:stretch>
            <a:fillRect/>
          </a:stretch>
        </p:blipFill>
        <p:spPr>
          <a:xfrm>
            <a:off x="2341880" y="3316605"/>
            <a:ext cx="5666740" cy="32378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pic>
        <p:nvPicPr>
          <p:cNvPr id="6" name="Content Placeholder 5" descr="resource_dyn"/>
          <p:cNvPicPr>
            <a:picLocks noChangeAspect="1"/>
          </p:cNvPicPr>
          <p:nvPr>
            <p:ph idx="1"/>
          </p:nvPr>
        </p:nvPicPr>
        <p:blipFill>
          <a:blip r:embed="rId1"/>
          <a:stretch>
            <a:fillRect/>
          </a:stretch>
        </p:blipFill>
        <p:spPr>
          <a:xfrm>
            <a:off x="838200" y="1871980"/>
            <a:ext cx="10515600" cy="38449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3177</Words>
  <Application>WPS Presentation</Application>
  <PresentationFormat>宽屏</PresentationFormat>
  <Paragraphs>113</Paragraphs>
  <Slides>15</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Calibri</vt:lpstr>
      <vt:lpstr>SimSun</vt:lpstr>
      <vt:lpstr>东文宋体</vt:lpstr>
      <vt:lpstr>Calibri Light</vt:lpstr>
      <vt:lpstr>微软雅黑</vt:lpstr>
      <vt:lpstr>Droid Sans Fallback</vt:lpstr>
      <vt:lpstr>Arial Unicode MS</vt:lpstr>
      <vt:lpstr>Calibri</vt:lpstr>
      <vt:lpstr>Calibri Light</vt:lpstr>
      <vt:lpstr>Office Theme</vt:lpstr>
      <vt:lpstr>Coalescence</vt:lpstr>
      <vt:lpstr>PowerPoint 演示文稿</vt:lpstr>
      <vt:lpstr>Methods</vt:lpstr>
      <vt:lpstr>Assemble communities</vt:lpstr>
      <vt:lpstr>PowerPoint 演示文稿</vt:lpstr>
      <vt:lpstr>PowerPoint 演示文稿</vt:lpstr>
      <vt:lpstr>Species-level explanation</vt:lpstr>
      <vt:lpstr>Species CUE distribution after assembly/coalescence</vt:lpstr>
      <vt:lpstr>Machenism</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CUE from  and what is its influence on the outcome of coalescence</dc:title>
  <dc:creator>jiayi-chen</dc:creator>
  <cp:lastModifiedBy>jiayi-chen</cp:lastModifiedBy>
  <cp:revision>1207</cp:revision>
  <dcterms:created xsi:type="dcterms:W3CDTF">2025-08-22T13:09:19Z</dcterms:created>
  <dcterms:modified xsi:type="dcterms:W3CDTF">2025-08-22T13:09:19Z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2057-10.1.0.6757</vt:lpwstr>
  </property>
</Properties>
</file>